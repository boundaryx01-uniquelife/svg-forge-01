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bf699728-5afb-a263-2399-9ce71bdbb201}">
          <p14:sldIdLst>
            <p14:sldId id="256"/>
            <p14:sldId id="257"/>
            <p14:sldId id="258"/>
            <p14:sldId id="259"/>
            <p14:sldId id="260"/>
            <p14:sldId id="261"/>
            <p14:sldId id="262"/>
          </p14:sldIdLst>
        </p14:section>
        <p14:section name="활동 1 · 물개 그림" id="{b42cd134-1ee2-4de0-a428-d0f31ba85942}">
          <p14:sldIdLst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</p14:sldIdLst>
        </p14:section>
        <p14:section name="활동 2 · 독도" id="{ff6d877d-7058-7ea3-0336-1ae9e6a58585}">
          <p14:sldIdLst>
            <p14:sldId id="275"/>
            <p14:sldId id="276"/>
            <p14:sldId id="277"/>
            <p14:sldId id="278"/>
            <p14:sldId id="279"/>
            <p14:sldId id="280"/>
            <p14:sldId id="281"/>
          </p14:sldIdLst>
        </p14:section>
        <p14:section name="마무리" id="{ad7edca2-0008-ea2a-120d-e5a7b7749b91}">
          <p14:sldIdLst>
            <p14:sldId id="282"/>
            <p14:sldId id="283"/>
            <p14:sldId id="284"/>
            <p14:sldId id="285"/>
            <p14:sldId id="286"/>
            <p14:sldId id="287"/>
            <p14:sldId id="28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오늘은 SVG Forge로 그림과 글자를 키보드 키캡으로 만듭니다. 활동 1은 물개 그림, 활동 2는 "독도" 글자입니다.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두 키캡 모두 MX 호환 1u 크기입니다. 완성 파일은 3MF로 저장해 3D 프린터로 출력합니다.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 수업이 끝나면 학생들이 이 네 가지를 스스로 설명할 수 있어야 합니다. 특히 가는 선 판단은 다른 모드(키링, 레이저)에서도 쓰이는 핵심 개념입니다.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프린터가 한 대뿐이면 학생들이 파일만 저장해 두고 교사가 모아서 밤새 출력하는 방식도 가능합니다.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1u 키캡은 바닥 18.1mm, 윗면은 10.9mm 정도입니다. 그림을 이 작은 면에 올리므로, 원래 그림의 선은 0.05mm 정도로 아주 가늘어집니다. 노즐 0.4mm 프린터는 선이 0.8mm 정도는 되어야 안정적으로 나옵니다.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키캡 모드에서는 강조색이 보라색이고, 오른쪽에 키캡 설정이 나타납니다. 받침판·고리처럼 필요 없는 메뉴는 숨겨집니다.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그림이든 글자든 순서는 같습니다. 세 번째 단계에서 시간을 가장 많이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예시 그림은 손을 흔드는 물개입니다. 회색 몸통과 진한 테두리 선으로 이루어져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그림을 화면에 끌어다 놓으면 바로 도형으로 바뀝니다. 아래 상태줄에 두 가지 색(진한 회색 선, 연한 회색 몸통)이 보이는지 확인하세요.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이미지를 불러온 뒤 바로 선 굵게 하기로 가도 되지만, 작은 얼룩이나 원치 않는 구멍이 있으면 먼저 정리하는 습관을 들이면 좋습니다. 이 과정은 다른 모드(키링, 3D 프린트)에서도 똑같이 쓰입니다.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키캡 모드를 고르면 3D 화면에 키캡이 나타나고 그림이 윗면에 올라갑니다. 그림이 윗면보다 크면 자동으로 너비가 줄어듭니다.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그림을 키캡 크기로 줄이면 선도 같은 비율로 가늘어집니다. 2D 화면에서 빨갛게 표시된 곳은 프린터가 만들 수 없을 만큼 가는 곳입니다.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선을 하나 누르면 위쪽에 편집 도구가 나타납니다. 범위를 "이 색 전체"로 바꾸면 테두리 선 전체가 한꺼번에 굵어집니다. 두께 칸의 값은 한쪽으로 늘어나는 양이므로 선 폭은 그 두 배만큼 늘어납니다.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한 번만 누르면 물개 모양이 잘 살지만 아직 0.8mm보다 가늘어 빨간 표시가 남습니다. 두 번 누르면 0.8mm를 넘지만 눈·코·수염이 서로 붙어 얼굴이 뭉개집니다. 학생들이 직접 비교해 보고 고르게 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두께 + 는 도형의 테두리를 바깥쪽으로 밀어내는 기능입니다. 그래서 선 폭은 입력한 값의 두 배만큼 늘어납니다. 아주 작은 부분은 굵게 하면 서로 붙어 버리므로 먼저 지우는 것도 방법입니다.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학생들이 가장 많이 겪는 네 가지 상황입니다. 돌아다니며 점검할 때 이 표를 기준으로 짚어 주면 빠릅니다.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3MF나 STL은 출력을 위한 결과물이라 다시 불러와 수정할 수 없습니다. 반드시 .svgforge 프로젝트로도 저장해야 다음에 이어서 고칠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3D 탭에서 오른쪽 위 뷰 큐브의 "위"를 누르면 위에서 본 모습이 나옵니다. 굵게 하기 전에는 선이 머리카락처럼 가늘고, 굵게 한 뒤에는 또렷하게 보입니다.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물개 그림으로 익힌 "선 굵게 하기"는 다음 활동인 독도 글자에서도 똑같이 적용됩니다. 여기서 막힌 학생이 있다면 다음 활동 전에 짚어 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두 번째 활동은 글자입니다. 우리 땅 독도를 키캡에 새겨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텍스트 탭을 누르고 "독도"를 입력합니다. 기본 폰트는 한글이 들어 있는 Noto Sans KR Bold입니다.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한글이 없는 멋글씨 폰트를 고르면 "독도"가 □□로 나오거나 사각형으로 비어 보입니다. 꼭 파란 [한] 표시가 있는 폰트인지 확인하도록 안내하세요.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그림에서는 두께 + 를 썼지만, 글자는 최소 획 폭 칸에 0.8을 넣으면 됩니다. 이미 굵은 획은 그대로 두고 가는 획만 굵어집니다.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채우기 도구로 글자를 누르면 그 글자의 색이 바뀝니다. 3MF로 저장하면 검정·파랑이 따로 나뉘어 다색 프린터에서 색을 지정할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이미 놓은 글자를 지우고 처음부터 다시 만드는 학생이 많습니다. ✎ 글자 고치기를 쓰면 위치와 설정을 유지한 채 필요한 부분만 바꿀 수 있다는 것을 강조하세요.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두 활동을 마치면 학생들은 같은 문제(가는 선)를 이미지와 텍스트 각각 다른 도구(두께 +, 최소 획 폭)로 해결하는 경험을 하게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완성 파일은 3MF로 저장합니다. 스템 구멍은 프린터마다 조금씩 달라서 첫 출력 뒤 공차를 조절해야 할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학생들이 스스로 점검하게 하세요. 빨간 표시를 모두 없애기 어렵다면 가장 중요한 선이 0.4mm 이상인지만 확인해도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화면 오른쪽 아래 ? 버튼을 누르면 사용법과 단축키를 언제든 볼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빠르게 끝낸 학생에게는 모드를 바꿔보게 하세요. 그림과 선 굵기 개념은 모드가 달라도 그대로 쓰입니다.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표는 참고용 루브릭입니다. 학급 상황에 맞게 기준을 조정해 사용하세요.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수업 전에 한 번 읽어 두면 현장에서 바로 답할 수 있는 질문들입니다.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완성한 파일로 출력해 보고, 시간이 남으면 자기 이름이나 다른 그림으로 키캡을 만들어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C2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33756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rgbClr val="C9D4EA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1C2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74720"/>
            <a:ext cx="106984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C9D4EA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A6"/>
                </a:solidFill>
              </a:rPr>
              <a:t>SVG Forge · 나만의 키캡 만들기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나만의 키캡 만들기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33756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C9D4EA"/>
                </a:solidFill>
              </a:rPr>
              <a:t>SVG Forge로 그림·글자를 MX 키캡으로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1920240" cy="411480"/>
          </a:xfrm>
          <a:prstGeom prst="roundRect">
            <a:avLst>
              <a:gd name="adj" fmla="val 48889"/>
            </a:avLst>
          </a:prstGeom>
          <a:solidFill>
            <a:srgbClr val="7048E8"/>
          </a:solidFill>
          <a:ln w="12700">
            <a:solidFill>
              <a:srgbClr val="7048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4173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키캡 모드</a:t>
            </a:r>
            <a:endParaRPr lang="en-US" sz="1500" dirty="0"/>
          </a:p>
        </p:txBody>
      </p:sp>
      <p:pic>
        <p:nvPicPr>
          <p:cNvPr id="6" name="hero seal" descr="물개 키캡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4160520"/>
            <a:ext cx="2103120" cy="2103120"/>
          </a:xfrm>
          <a:prstGeom prst="rect">
            <a:avLst/>
          </a:prstGeom>
        </p:spPr>
      </p:pic>
      <p:pic>
        <p:nvPicPr>
          <p:cNvPr id="7" name="hero dokdo" descr="독도 키캡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4160520"/>
            <a:ext cx="2103120" cy="21031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31520" y="5943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3A6"/>
                </a:solidFill>
              </a:rPr>
              <a:t>uniquelife · Claude로 제작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오늘 만들 키캡 두 개</a:t>
            </a:r>
            <a:endParaRPr lang="en-US" sz="3000" dirty="0"/>
          </a:p>
        </p:txBody>
      </p:sp>
      <p:sp>
        <p:nvSpPr>
          <p:cNvPr id="3" name="card 1"/>
          <p:cNvSpPr/>
          <p:nvPr/>
        </p:nvSpPr>
        <p:spPr>
          <a:xfrm>
            <a:off x="548640" y="1234440"/>
            <a:ext cx="5394960" cy="4846320"/>
          </a:xfrm>
          <a:prstGeom prst="roundRect">
            <a:avLst>
              <a:gd name="adj" fmla="val 2264"/>
            </a:avLst>
          </a:prstGeom>
          <a:solidFill>
            <a:srgbClr val="F3F4F7"/>
          </a:solidFill>
          <a:ln w="12700">
            <a:solidFill>
              <a:srgbClr val="DFE3EA"/>
            </a:solidFill>
            <a:prstDash val="solid"/>
          </a:ln>
        </p:spPr>
      </p:sp>
      <p:pic>
        <p:nvPicPr>
          <p:cNvPr id="4" name="활동 1 · 물개 그림 키캡" descr="활동 1 · 물개 그림 키캡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65960" y="1417320"/>
            <a:ext cx="2560320" cy="2432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68680" y="4434840"/>
            <a:ext cx="274320" cy="274320"/>
          </a:xfrm>
          <a:prstGeom prst="ellipse">
            <a:avLst/>
          </a:prstGeom>
          <a:solidFill>
            <a:srgbClr val="7048E8"/>
          </a:solidFill>
          <a:ln w="12700">
            <a:solidFill>
              <a:srgbClr val="7048E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280160" y="4315968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C2230"/>
                </a:solidFill>
              </a:rPr>
              <a:t>활동 1 · 물개 그림 키캡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493776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D6678"/>
                </a:solidFill>
              </a:rPr>
              <a:t>그림을 불러와 가는 선을 굵게 다듬어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D6678"/>
                </a:solidFill>
              </a:rPr>
              <a:t>키캡 윗면에 올립니다</a:t>
            </a:r>
            <a:endParaRPr lang="en-US" sz="1500" dirty="0"/>
          </a:p>
        </p:txBody>
      </p:sp>
      <p:sp>
        <p:nvSpPr>
          <p:cNvPr id="8" name="card 2"/>
          <p:cNvSpPr/>
          <p:nvPr/>
        </p:nvSpPr>
        <p:spPr>
          <a:xfrm>
            <a:off x="6217920" y="1234440"/>
            <a:ext cx="5394960" cy="4846320"/>
          </a:xfrm>
          <a:prstGeom prst="roundRect">
            <a:avLst>
              <a:gd name="adj" fmla="val 2264"/>
            </a:avLst>
          </a:prstGeom>
          <a:solidFill>
            <a:srgbClr val="F3F4F7"/>
          </a:solidFill>
          <a:ln w="12700">
            <a:solidFill>
              <a:srgbClr val="DFE3EA"/>
            </a:solidFill>
            <a:prstDash val="solid"/>
          </a:ln>
        </p:spPr>
      </p:sp>
      <p:pic>
        <p:nvPicPr>
          <p:cNvPr id="9" name="활동 2 · &quot;독도&quot; 글자 키캡" descr="활동 2 · &quot;독도&quot; 글자 키캡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1417320"/>
            <a:ext cx="2560320" cy="243392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537960" y="4434840"/>
            <a:ext cx="274320" cy="274320"/>
          </a:xfrm>
          <a:prstGeom prst="ellipse">
            <a:avLst/>
          </a:prstGeom>
          <a:solidFill>
            <a:srgbClr val="1D5FD6"/>
          </a:solidFill>
          <a:ln w="12700">
            <a:solidFill>
              <a:srgbClr val="1D5FD6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949440" y="4315968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C2230"/>
                </a:solidFill>
              </a:rPr>
              <a:t>활동 2 · "독도" 글자 키캡</a:t>
            </a:r>
            <a:endParaRPr lang="en-US" sz="2100" dirty="0"/>
          </a:p>
        </p:txBody>
      </p:sp>
      <p:sp>
        <p:nvSpPr>
          <p:cNvPr id="12" name="Text 8"/>
          <p:cNvSpPr txBox="1"/>
          <p:nvPr/>
        </p:nvSpPr>
        <p:spPr>
          <a:xfrm>
            <a:off x="6537960" y="493776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D6678"/>
                </a:solidFill>
              </a:rPr>
              <a:t>글자를 입력하고 획 폭을 맞춘 뒤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D6678"/>
                </a:solidFill>
              </a:rPr>
              <a:t>글자마다 색을 나눕니다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이 수업을 마치면</a:t>
            </a:r>
            <a:endParaRPr lang="en-US" sz="3000" dirty="0"/>
          </a:p>
        </p:txBody>
      </p:sp>
      <p:sp>
        <p:nvSpPr>
          <p:cNvPr id="3" name="goal 1"/>
          <p:cNvSpPr/>
          <p:nvPr/>
        </p:nvSpPr>
        <p:spPr>
          <a:xfrm>
            <a:off x="548640" y="1325880"/>
            <a:ext cx="5440680" cy="1691640"/>
          </a:xfrm>
          <a:prstGeom prst="roundRect">
            <a:avLst>
              <a:gd name="adj" fmla="val 6486"/>
            </a:avLst>
          </a:prstGeom>
          <a:solidFill>
            <a:srgbClr val="F3F4F7"/>
          </a:solidFill>
          <a:ln w="12700">
            <a:solidFill>
              <a:srgbClr val="DFE3EA"/>
            </a:solidFill>
            <a:prstDash val="solid"/>
          </a:ln>
        </p:spPr>
      </p:sp>
      <p:sp>
        <p:nvSpPr>
          <p:cNvPr id="4" name="num 1"/>
          <p:cNvSpPr/>
          <p:nvPr/>
        </p:nvSpPr>
        <p:spPr>
          <a:xfrm>
            <a:off x="822960" y="1600200"/>
            <a:ext cx="457200" cy="457200"/>
          </a:xfrm>
          <a:prstGeom prst="ellipse">
            <a:avLst/>
          </a:prstGeom>
          <a:solidFill>
            <a:srgbClr val="1D5FD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15087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2230"/>
                </a:solidFill>
              </a:rPr>
              <a:t>그림 다듬기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2011680"/>
            <a:ext cx="4343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D6678"/>
                </a:solidFill>
              </a:rPr>
              <a:t>색 수·배경을 확인하고 선 굵기를 조절할 수 있다</a:t>
            </a:r>
            <a:endParaRPr lang="en-US" sz="1400" dirty="0"/>
          </a:p>
        </p:txBody>
      </p:sp>
      <p:sp>
        <p:nvSpPr>
          <p:cNvPr id="8" name="goal 2"/>
          <p:cNvSpPr/>
          <p:nvPr/>
        </p:nvSpPr>
        <p:spPr>
          <a:xfrm>
            <a:off x="6172200" y="1325880"/>
            <a:ext cx="5440680" cy="1691640"/>
          </a:xfrm>
          <a:prstGeom prst="roundRect">
            <a:avLst>
              <a:gd name="adj" fmla="val 6486"/>
            </a:avLst>
          </a:prstGeom>
          <a:solidFill>
            <a:srgbClr val="F3F4F7"/>
          </a:solidFill>
          <a:ln w="12700">
            <a:solidFill>
              <a:srgbClr val="DFE3EA"/>
            </a:solidFill>
            <a:prstDash val="solid"/>
          </a:ln>
        </p:spPr>
      </p:sp>
      <p:sp>
        <p:nvSpPr>
          <p:cNvPr id="9" name="num 2"/>
          <p:cNvSpPr/>
          <p:nvPr/>
        </p:nvSpPr>
        <p:spPr>
          <a:xfrm>
            <a:off x="6446520" y="1600200"/>
            <a:ext cx="457200" cy="457200"/>
          </a:xfrm>
          <a:prstGeom prst="ellipse">
            <a:avLst/>
          </a:prstGeom>
          <a:solidFill>
            <a:srgbClr val="7048E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4652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7132320" y="15087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2230"/>
                </a:solidFill>
              </a:rPr>
              <a:t>키캡 모드 이해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7132320" y="2011680"/>
            <a:ext cx="4343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D6678"/>
                </a:solidFill>
              </a:rPr>
              <a:t>윗면 크기에 맞춰 축소되는 원리를 설명할 수 있다</a:t>
            </a:r>
            <a:endParaRPr lang="en-US" sz="1400" dirty="0"/>
          </a:p>
        </p:txBody>
      </p:sp>
      <p:sp>
        <p:nvSpPr>
          <p:cNvPr id="13" name="goal 3"/>
          <p:cNvSpPr/>
          <p:nvPr/>
        </p:nvSpPr>
        <p:spPr>
          <a:xfrm>
            <a:off x="548640" y="3246120"/>
            <a:ext cx="5440680" cy="1691640"/>
          </a:xfrm>
          <a:prstGeom prst="roundRect">
            <a:avLst>
              <a:gd name="adj" fmla="val 6486"/>
            </a:avLst>
          </a:prstGeom>
          <a:solidFill>
            <a:srgbClr val="F3F4F7"/>
          </a:solidFill>
          <a:ln w="12700">
            <a:solidFill>
              <a:srgbClr val="DFE3EA"/>
            </a:solidFill>
            <a:prstDash val="solid"/>
          </a:ln>
        </p:spPr>
      </p:sp>
      <p:sp>
        <p:nvSpPr>
          <p:cNvPr id="14" name="num 3"/>
          <p:cNvSpPr/>
          <p:nvPr/>
        </p:nvSpPr>
        <p:spPr>
          <a:xfrm>
            <a:off x="822960" y="3520440"/>
            <a:ext cx="457200" cy="457200"/>
          </a:xfrm>
          <a:prstGeom prst="ellipse">
            <a:avLst/>
          </a:prstGeom>
          <a:solidFill>
            <a:srgbClr val="C92A2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508760" y="34290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2230"/>
                </a:solidFill>
              </a:rPr>
              <a:t>가는 선 판단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3931920"/>
            <a:ext cx="4343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D6678"/>
                </a:solidFill>
              </a:rPr>
              <a:t>0.8mm 기준으로 출력 가능 여부를 스스로 확인한다</a:t>
            </a:r>
            <a:endParaRPr lang="en-US" sz="1400" dirty="0"/>
          </a:p>
        </p:txBody>
      </p:sp>
      <p:sp>
        <p:nvSpPr>
          <p:cNvPr id="18" name="goal 4"/>
          <p:cNvSpPr/>
          <p:nvPr/>
        </p:nvSpPr>
        <p:spPr>
          <a:xfrm>
            <a:off x="6172200" y="3246120"/>
            <a:ext cx="5440680" cy="1691640"/>
          </a:xfrm>
          <a:prstGeom prst="roundRect">
            <a:avLst>
              <a:gd name="adj" fmla="val 6486"/>
            </a:avLst>
          </a:prstGeom>
          <a:solidFill>
            <a:srgbClr val="F3F4F7"/>
          </a:solidFill>
          <a:ln w="12700">
            <a:solidFill>
              <a:srgbClr val="DFE3EA"/>
            </a:solidFill>
            <a:prstDash val="solid"/>
          </a:ln>
        </p:spPr>
      </p:sp>
      <p:sp>
        <p:nvSpPr>
          <p:cNvPr id="19" name="num 4"/>
          <p:cNvSpPr/>
          <p:nvPr/>
        </p:nvSpPr>
        <p:spPr>
          <a:xfrm>
            <a:off x="6446520" y="3520440"/>
            <a:ext cx="457200" cy="457200"/>
          </a:xfrm>
          <a:prstGeom prst="ellipse">
            <a:avLst/>
          </a:prstGeom>
          <a:solidFill>
            <a:srgbClr val="0CA67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46520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7132320" y="34290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2230"/>
                </a:solidFill>
              </a:rPr>
              <a:t>완성 파일 저장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7132320" y="3931920"/>
            <a:ext cx="4343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D6678"/>
                </a:solidFill>
              </a:rPr>
              <a:t>3MF·STL의 차이를 알고 알맞게 저장한다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준비물과 수업 환경</a:t>
            </a:r>
            <a:endParaRPr lang="en-US" sz="3000" dirty="0"/>
          </a:p>
        </p:txBody>
      </p:sp>
      <p:sp>
        <p:nvSpPr>
          <p:cNvPr id="3" name="num 1"/>
          <p:cNvSpPr/>
          <p:nvPr/>
        </p:nvSpPr>
        <p:spPr>
          <a:xfrm>
            <a:off x="548640" y="1389888"/>
            <a:ext cx="347472" cy="347472"/>
          </a:xfrm>
          <a:prstGeom prst="ellipse">
            <a:avLst/>
          </a:prstGeom>
          <a:solidFill>
            <a:srgbClr val="1D5FD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3898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371600"/>
            <a:ext cx="61722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C2230"/>
                </a:solidFill>
              </a:rPr>
              <a:t>컴퓨터 + 크롬·엣지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D6678"/>
                </a:solidFill>
              </a:rPr>
              <a:t>설치 없이 브라우저에서 바로 실행 (인터넷 연결 불필요)</a:t>
            </a:r>
            <a:endParaRPr lang="en-US" sz="1500" dirty="0"/>
          </a:p>
        </p:txBody>
      </p:sp>
      <p:sp>
        <p:nvSpPr>
          <p:cNvPr id="6" name="num 2"/>
          <p:cNvSpPr/>
          <p:nvPr/>
        </p:nvSpPr>
        <p:spPr>
          <a:xfrm>
            <a:off x="548640" y="2395728"/>
            <a:ext cx="347472" cy="347472"/>
          </a:xfrm>
          <a:prstGeom prst="ellipse">
            <a:avLst/>
          </a:prstGeom>
          <a:solidFill>
            <a:srgbClr val="1D5FD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3957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2377440"/>
            <a:ext cx="61722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C2230"/>
                </a:solidFill>
              </a:rPr>
              <a:t>예시 이미지 파일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D6678"/>
                </a:solidFill>
              </a:rPr>
              <a:t>물개 그림 (배경이 단순한 PNG 권장)</a:t>
            </a:r>
            <a:endParaRPr lang="en-US" sz="1500" dirty="0"/>
          </a:p>
        </p:txBody>
      </p:sp>
      <p:sp>
        <p:nvSpPr>
          <p:cNvPr id="9" name="num 3"/>
          <p:cNvSpPr/>
          <p:nvPr/>
        </p:nvSpPr>
        <p:spPr>
          <a:xfrm>
            <a:off x="548640" y="3401568"/>
            <a:ext cx="347472" cy="347472"/>
          </a:xfrm>
          <a:prstGeom prst="ellipse">
            <a:avLst/>
          </a:prstGeom>
          <a:solidFill>
            <a:srgbClr val="1D5FD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4015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3383280"/>
            <a:ext cx="61722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C2230"/>
                </a:solidFill>
              </a:rPr>
              <a:t>3D 프린터 1대 이상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D6678"/>
                </a:solidFill>
              </a:rPr>
              <a:t>학급 공유도 가능 — 결과 파일만 모아 출력</a:t>
            </a:r>
            <a:endParaRPr lang="en-US" sz="1500" dirty="0"/>
          </a:p>
        </p:txBody>
      </p:sp>
      <p:sp>
        <p:nvSpPr>
          <p:cNvPr id="12" name="num 4"/>
          <p:cNvSpPr/>
          <p:nvPr/>
        </p:nvSpPr>
        <p:spPr>
          <a:xfrm>
            <a:off x="548640" y="4407408"/>
            <a:ext cx="347472" cy="347472"/>
          </a:xfrm>
          <a:prstGeom prst="ellipse">
            <a:avLst/>
          </a:prstGeom>
          <a:solidFill>
            <a:srgbClr val="1D5FD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44074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4389120"/>
            <a:ext cx="61722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C2230"/>
                </a:solidFill>
              </a:rPr>
              <a:t>노즐 0.4mm 기준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D6678"/>
                </a:solidFill>
              </a:rPr>
              <a:t>더 가는 노즐이면 최소 폭을 낮춰도 됨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5486400"/>
            <a:ext cx="6675120" cy="640080"/>
          </a:xfrm>
          <a:prstGeom prst="roundRect">
            <a:avLst>
              <a:gd name="adj" fmla="val 11429"/>
            </a:avLst>
          </a:prstGeom>
          <a:solidFill>
            <a:srgbClr val="E8F0FD"/>
          </a:solidFill>
          <a:ln w="12700">
            <a:solidFill>
              <a:srgbClr val="E8F0F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5486400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3557"/>
                </a:solidFill>
              </a:rPr>
              <a:t>시간이 부족하면 활동 2(독도 글자)만으로도 핵심 개념을 모두 다룰 수 있어요.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589520" y="1463040"/>
            <a:ext cx="4023360" cy="1188720"/>
          </a:xfrm>
          <a:prstGeom prst="roundRect">
            <a:avLst>
              <a:gd name="adj" fmla="val 9231"/>
            </a:avLst>
          </a:prstGeom>
          <a:solidFill>
            <a:srgbClr val="F3F4F7"/>
          </a:solidFill>
          <a:ln w="12700">
            <a:solidFill>
              <a:srgbClr val="DFE3E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818120" y="160020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048E8"/>
                </a:solidFill>
              </a:rPr>
              <a:t>40분</a:t>
            </a:r>
            <a:endParaRPr lang="en-US" sz="2800" dirty="0"/>
          </a:p>
        </p:txBody>
      </p:sp>
      <p:sp>
        <p:nvSpPr>
          <p:cNvPr id="19" name="Text 17"/>
          <p:cNvSpPr txBox="1"/>
          <p:nvPr/>
        </p:nvSpPr>
        <p:spPr>
          <a:xfrm>
            <a:off x="9235440" y="16002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678"/>
                </a:solidFill>
              </a:rPr>
              <a:t>한 활동만 (물개 또는 독도)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589520" y="2926080"/>
            <a:ext cx="4023360" cy="1188720"/>
          </a:xfrm>
          <a:prstGeom prst="roundRect">
            <a:avLst>
              <a:gd name="adj" fmla="val 9231"/>
            </a:avLst>
          </a:prstGeom>
          <a:solidFill>
            <a:srgbClr val="F3F4F7"/>
          </a:solidFill>
          <a:ln w="12700">
            <a:solidFill>
              <a:srgbClr val="DFE3E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818120" y="306324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048E8"/>
                </a:solidFill>
              </a:rPr>
              <a:t>80분</a:t>
            </a:r>
            <a:endParaRPr lang="en-US" sz="2800" dirty="0"/>
          </a:p>
        </p:txBody>
      </p:sp>
      <p:sp>
        <p:nvSpPr>
          <p:cNvPr id="22" name="Text 20"/>
          <p:cNvSpPr txBox="1"/>
          <p:nvPr/>
        </p:nvSpPr>
        <p:spPr>
          <a:xfrm>
            <a:off x="9235440" y="30632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678"/>
                </a:solidFill>
              </a:rPr>
              <a:t>두 활동 모두 + 출력 대기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키캡(MX 호환) 기본 크기</a:t>
            </a:r>
            <a:endParaRPr lang="en-US" sz="3000" dirty="0"/>
          </a:p>
        </p:txBody>
      </p:sp>
      <p:sp>
        <p:nvSpPr>
          <p:cNvPr id="3" name="위에서 본 키캡 frame"/>
          <p:cNvSpPr/>
          <p:nvPr/>
        </p:nvSpPr>
        <p:spPr>
          <a:xfrm>
            <a:off x="512064" y="1247281"/>
            <a:ext cx="4553712" cy="4546318"/>
          </a:xfrm>
          <a:prstGeom prst="rect">
            <a:avLst/>
          </a:prstGeom>
          <a:solidFill>
            <a:srgbClr val="FFFFFF"/>
          </a:solidFill>
          <a:ln w="12700">
            <a:solidFill>
              <a:srgbClr val="DFE3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위에서 본 키캡" descr="위에서 본 키캡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3857"/>
            <a:ext cx="4480560" cy="4473166"/>
          </a:xfrm>
          <a:prstGeom prst="rect">
            <a:avLst/>
          </a:prstGeom>
        </p:spPr>
      </p:pic>
      <p:sp>
        <p:nvSpPr>
          <p:cNvPr id="5" name="stat 1"/>
          <p:cNvSpPr/>
          <p:nvPr/>
        </p:nvSpPr>
        <p:spPr>
          <a:xfrm>
            <a:off x="5486400" y="1371600"/>
            <a:ext cx="2926080" cy="1828800"/>
          </a:xfrm>
          <a:prstGeom prst="roundRect">
            <a:avLst>
              <a:gd name="adj" fmla="val 6000"/>
            </a:avLst>
          </a:prstGeom>
          <a:solidFill>
            <a:srgbClr val="F3F4F7"/>
          </a:solidFill>
          <a:ln w="12700">
            <a:solidFill>
              <a:srgbClr val="DFE3E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715000" y="155448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7048E8"/>
                </a:solidFill>
              </a:rPr>
              <a:t>18.1</a:t>
            </a:r>
            <a:pPr indent="0" marL="0">
              <a:buNone/>
            </a:pPr>
            <a:r>
              <a:rPr lang="en-US" sz="2000" b="1" dirty="0">
                <a:solidFill>
                  <a:srgbClr val="7048E8"/>
                </a:solidFill>
              </a:rPr>
              <a:t> mm</a:t>
            </a:r>
            <a:endParaRPr lang="en-US" sz="5000" dirty="0"/>
          </a:p>
        </p:txBody>
      </p:sp>
      <p:sp>
        <p:nvSpPr>
          <p:cNvPr id="7" name="Text 4"/>
          <p:cNvSpPr txBox="1"/>
          <p:nvPr/>
        </p:nvSpPr>
        <p:spPr>
          <a:xfrm>
            <a:off x="5715000" y="25146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D6678"/>
                </a:solidFill>
              </a:rPr>
              <a:t>키캡 바닥 폭 (1u)</a:t>
            </a:r>
            <a:endParaRPr lang="en-US" sz="1500" dirty="0"/>
          </a:p>
        </p:txBody>
      </p:sp>
      <p:sp>
        <p:nvSpPr>
          <p:cNvPr id="8" name="stat 2"/>
          <p:cNvSpPr/>
          <p:nvPr/>
        </p:nvSpPr>
        <p:spPr>
          <a:xfrm>
            <a:off x="8641080" y="1371600"/>
            <a:ext cx="2926080" cy="1828800"/>
          </a:xfrm>
          <a:prstGeom prst="roundRect">
            <a:avLst>
              <a:gd name="adj" fmla="val 6000"/>
            </a:avLst>
          </a:prstGeom>
          <a:solidFill>
            <a:srgbClr val="F3F4F7"/>
          </a:solidFill>
          <a:ln w="12700">
            <a:solidFill>
              <a:srgbClr val="DFE3E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869680" y="155448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7048E8"/>
                </a:solidFill>
              </a:rPr>
              <a:t>10.9</a:t>
            </a:r>
            <a:pPr indent="0" marL="0">
              <a:buNone/>
            </a:pPr>
            <a:r>
              <a:rPr lang="en-US" sz="2000" b="1" dirty="0">
                <a:solidFill>
                  <a:srgbClr val="7048E8"/>
                </a:solidFill>
              </a:rPr>
              <a:t> mm</a:t>
            </a:r>
            <a:endParaRPr lang="en-US" sz="5000" dirty="0"/>
          </a:p>
        </p:txBody>
      </p:sp>
      <p:sp>
        <p:nvSpPr>
          <p:cNvPr id="10" name="Text 7"/>
          <p:cNvSpPr txBox="1"/>
          <p:nvPr/>
        </p:nvSpPr>
        <p:spPr>
          <a:xfrm>
            <a:off x="8869680" y="25146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D6678"/>
                </a:solidFill>
              </a:rPr>
              <a:t>그림을 올릴 윗면</a:t>
            </a:r>
            <a:endParaRPr lang="en-US" sz="1500" dirty="0"/>
          </a:p>
        </p:txBody>
      </p:sp>
      <p:sp>
        <p:nvSpPr>
          <p:cNvPr id="11" name="stat 3"/>
          <p:cNvSpPr/>
          <p:nvPr/>
        </p:nvSpPr>
        <p:spPr>
          <a:xfrm>
            <a:off x="5486400" y="3474720"/>
            <a:ext cx="2926080" cy="1828800"/>
          </a:xfrm>
          <a:prstGeom prst="roundRect">
            <a:avLst>
              <a:gd name="adj" fmla="val 6000"/>
            </a:avLst>
          </a:prstGeom>
          <a:solidFill>
            <a:srgbClr val="F3F4F7"/>
          </a:solidFill>
          <a:ln w="12700">
            <a:solidFill>
              <a:srgbClr val="DFE3E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715000" y="365760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7048E8"/>
                </a:solidFill>
              </a:rPr>
              <a:t>9.5</a:t>
            </a:r>
            <a:pPr indent="0" marL="0">
              <a:buNone/>
            </a:pPr>
            <a:r>
              <a:rPr lang="en-US" sz="2000" b="1" dirty="0">
                <a:solidFill>
                  <a:srgbClr val="7048E8"/>
                </a:solidFill>
              </a:rPr>
              <a:t> mm</a:t>
            </a:r>
            <a:endParaRPr lang="en-US" sz="5000" dirty="0"/>
          </a:p>
        </p:txBody>
      </p:sp>
      <p:sp>
        <p:nvSpPr>
          <p:cNvPr id="13" name="Text 10"/>
          <p:cNvSpPr txBox="1"/>
          <p:nvPr/>
        </p:nvSpPr>
        <p:spPr>
          <a:xfrm>
            <a:off x="5715000" y="46177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D6678"/>
                </a:solidFill>
              </a:rPr>
              <a:t>전체 높이</a:t>
            </a:r>
            <a:endParaRPr lang="en-US" sz="1500" dirty="0"/>
          </a:p>
        </p:txBody>
      </p:sp>
      <p:sp>
        <p:nvSpPr>
          <p:cNvPr id="14" name="stat 4"/>
          <p:cNvSpPr/>
          <p:nvPr/>
        </p:nvSpPr>
        <p:spPr>
          <a:xfrm>
            <a:off x="8641080" y="3474720"/>
            <a:ext cx="2926080" cy="1828800"/>
          </a:xfrm>
          <a:prstGeom prst="roundRect">
            <a:avLst>
              <a:gd name="adj" fmla="val 6000"/>
            </a:avLst>
          </a:prstGeom>
          <a:solidFill>
            <a:srgbClr val="F3F4F7"/>
          </a:solidFill>
          <a:ln w="12700">
            <a:solidFill>
              <a:srgbClr val="DFE3E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869680" y="365760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C92A2A"/>
                </a:solidFill>
              </a:rPr>
              <a:t>0.8</a:t>
            </a:r>
            <a:pPr indent="0" marL="0">
              <a:buNone/>
            </a:pPr>
            <a:r>
              <a:rPr lang="en-US" sz="2000" b="1" dirty="0">
                <a:solidFill>
                  <a:srgbClr val="C92A2A"/>
                </a:solidFill>
              </a:rPr>
              <a:t> mm</a:t>
            </a:r>
            <a:endParaRPr lang="en-US" sz="5000" dirty="0"/>
          </a:p>
        </p:txBody>
      </p:sp>
      <p:sp>
        <p:nvSpPr>
          <p:cNvPr id="16" name="Text 13"/>
          <p:cNvSpPr txBox="1"/>
          <p:nvPr/>
        </p:nvSpPr>
        <p:spPr>
          <a:xfrm>
            <a:off x="8869680" y="46177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D6678"/>
                </a:solidFill>
              </a:rPr>
              <a:t>선·획의 최소 폭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5486400" y="5486400"/>
            <a:ext cx="6172200" cy="731520"/>
          </a:xfrm>
          <a:prstGeom prst="roundRect">
            <a:avLst>
              <a:gd name="adj" fmla="val 10000"/>
            </a:avLst>
          </a:prstGeom>
          <a:solidFill>
            <a:srgbClr val="EFEBFC"/>
          </a:solidFill>
          <a:ln w="12700">
            <a:solidFill>
              <a:srgbClr val="EFEBF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669280" y="5486400"/>
            <a:ext cx="5806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2FA8"/>
                </a:solidFill>
              </a:rPr>
              <a:t>그림은 사방 약 10mm 안에 들어갑니다. 아주 작아지기 때문에 선을 굵게 하는 과정이 꼭 필요해요.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화면 구성 (키캡 모드)</a:t>
            </a:r>
            <a:endParaRPr lang="en-US" sz="3000" dirty="0"/>
          </a:p>
        </p:txBody>
      </p:sp>
      <p:sp>
        <p:nvSpPr>
          <p:cNvPr id="3" name="키캡 모드 화면 frame"/>
          <p:cNvSpPr/>
          <p:nvPr/>
        </p:nvSpPr>
        <p:spPr>
          <a:xfrm>
            <a:off x="512064" y="1484668"/>
            <a:ext cx="7754112" cy="4391583"/>
          </a:xfrm>
          <a:prstGeom prst="rect">
            <a:avLst/>
          </a:prstGeom>
          <a:solidFill>
            <a:srgbClr val="FFFFFF"/>
          </a:solidFill>
          <a:ln w="12700">
            <a:solidFill>
              <a:srgbClr val="DFE3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키캡 모드 화면" descr="키캡 모드 화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21244"/>
            <a:ext cx="7680960" cy="4318431"/>
          </a:xfrm>
          <a:prstGeom prst="rect">
            <a:avLst/>
          </a:prstGeom>
        </p:spPr>
      </p:pic>
      <p:sp>
        <p:nvSpPr>
          <p:cNvPr id="5" name="num 1"/>
          <p:cNvSpPr/>
          <p:nvPr/>
        </p:nvSpPr>
        <p:spPr>
          <a:xfrm>
            <a:off x="1649896" y="1492286"/>
            <a:ext cx="384048" cy="384048"/>
          </a:xfrm>
          <a:prstGeom prst="ellipse">
            <a:avLst/>
          </a:prstGeom>
          <a:solidFill>
            <a:srgbClr val="E8590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649896" y="149228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num 2"/>
          <p:cNvSpPr/>
          <p:nvPr/>
        </p:nvSpPr>
        <p:spPr>
          <a:xfrm>
            <a:off x="2695766" y="1492286"/>
            <a:ext cx="384048" cy="384048"/>
          </a:xfrm>
          <a:prstGeom prst="ellipse">
            <a:avLst/>
          </a:prstGeom>
          <a:solidFill>
            <a:srgbClr val="E8590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695766" y="149228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num 3"/>
          <p:cNvSpPr/>
          <p:nvPr/>
        </p:nvSpPr>
        <p:spPr>
          <a:xfrm>
            <a:off x="7104165" y="1492286"/>
            <a:ext cx="384048" cy="384048"/>
          </a:xfrm>
          <a:prstGeom prst="ellipse">
            <a:avLst/>
          </a:prstGeom>
          <a:solidFill>
            <a:srgbClr val="E8590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104165" y="149228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num 4"/>
          <p:cNvSpPr/>
          <p:nvPr/>
        </p:nvSpPr>
        <p:spPr>
          <a:xfrm>
            <a:off x="1233797" y="3016108"/>
            <a:ext cx="384048" cy="384048"/>
          </a:xfrm>
          <a:prstGeom prst="ellipse">
            <a:avLst/>
          </a:prstGeom>
          <a:solidFill>
            <a:srgbClr val="E8590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233797" y="30161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3" name="num 5"/>
          <p:cNvSpPr/>
          <p:nvPr/>
        </p:nvSpPr>
        <p:spPr>
          <a:xfrm>
            <a:off x="3505472" y="2037713"/>
            <a:ext cx="384048" cy="384048"/>
          </a:xfrm>
          <a:prstGeom prst="ellipse">
            <a:avLst/>
          </a:prstGeom>
          <a:solidFill>
            <a:srgbClr val="E8590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505472" y="203771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15" name="num 6"/>
          <p:cNvSpPr/>
          <p:nvPr/>
        </p:nvSpPr>
        <p:spPr>
          <a:xfrm>
            <a:off x="4292686" y="3465944"/>
            <a:ext cx="384048" cy="384048"/>
          </a:xfrm>
          <a:prstGeom prst="ellipse">
            <a:avLst/>
          </a:prstGeom>
          <a:solidFill>
            <a:srgbClr val="E8590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292686" y="34659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17" name="num 7"/>
          <p:cNvSpPr/>
          <p:nvPr/>
        </p:nvSpPr>
        <p:spPr>
          <a:xfrm>
            <a:off x="6991706" y="3465944"/>
            <a:ext cx="384048" cy="384048"/>
          </a:xfrm>
          <a:prstGeom prst="ellipse">
            <a:avLst/>
          </a:prstGeom>
          <a:solidFill>
            <a:srgbClr val="E8590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991706" y="34659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7</a:t>
            </a:r>
            <a:endParaRPr lang="en-US" sz="1400" dirty="0"/>
          </a:p>
        </p:txBody>
      </p:sp>
      <p:sp>
        <p:nvSpPr>
          <p:cNvPr id="19" name="num 8"/>
          <p:cNvSpPr/>
          <p:nvPr/>
        </p:nvSpPr>
        <p:spPr>
          <a:xfrm>
            <a:off x="4292686" y="5040372"/>
            <a:ext cx="384048" cy="384048"/>
          </a:xfrm>
          <a:prstGeom prst="ellipse">
            <a:avLst/>
          </a:prstGeom>
          <a:solidFill>
            <a:srgbClr val="E8590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292686" y="50403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8</a:t>
            </a:r>
            <a:endParaRPr lang="en-US" sz="1400" dirty="0"/>
          </a:p>
        </p:txBody>
      </p:sp>
      <p:sp>
        <p:nvSpPr>
          <p:cNvPr id="21" name="num 1"/>
          <p:cNvSpPr/>
          <p:nvPr/>
        </p:nvSpPr>
        <p:spPr>
          <a:xfrm>
            <a:off x="8549640" y="1271016"/>
            <a:ext cx="347472" cy="347472"/>
          </a:xfrm>
          <a:prstGeom prst="ellipse">
            <a:avLst/>
          </a:prstGeom>
          <a:solidFill>
            <a:srgbClr val="E8590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549640" y="12710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9006840" y="123444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2230"/>
                </a:solidFill>
              </a:rPr>
              <a:t>입력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5D6678"/>
                </a:solidFill>
              </a:rPr>
              <a:t>이미지 / 텍스트</a:t>
            </a:r>
            <a:endParaRPr lang="en-US" sz="1500" dirty="0"/>
          </a:p>
        </p:txBody>
      </p:sp>
      <p:sp>
        <p:nvSpPr>
          <p:cNvPr id="24" name="num 2"/>
          <p:cNvSpPr/>
          <p:nvPr/>
        </p:nvSpPr>
        <p:spPr>
          <a:xfrm>
            <a:off x="8549640" y="1874520"/>
            <a:ext cx="347472" cy="347472"/>
          </a:xfrm>
          <a:prstGeom prst="ellipse">
            <a:avLst/>
          </a:prstGeom>
          <a:solidFill>
            <a:srgbClr val="E8590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549640" y="18745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9006840" y="1837944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2230"/>
                </a:solidFill>
              </a:rPr>
              <a:t>모드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5D6678"/>
                </a:solidFill>
              </a:rPr>
              <a:t>키캡 (MX 호환)</a:t>
            </a:r>
            <a:endParaRPr lang="en-US" sz="1500" dirty="0"/>
          </a:p>
        </p:txBody>
      </p:sp>
      <p:sp>
        <p:nvSpPr>
          <p:cNvPr id="27" name="num 3"/>
          <p:cNvSpPr/>
          <p:nvPr/>
        </p:nvSpPr>
        <p:spPr>
          <a:xfrm>
            <a:off x="8549640" y="2478024"/>
            <a:ext cx="347472" cy="347472"/>
          </a:xfrm>
          <a:prstGeom prst="ellipse">
            <a:avLst/>
          </a:prstGeom>
          <a:solidFill>
            <a:srgbClr val="E8590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549640" y="24780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9006840" y="2441448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2230"/>
                </a:solidFill>
              </a:rPr>
              <a:t>저장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5D6678"/>
                </a:solidFill>
              </a:rPr>
              <a:t>3MF · STL</a:t>
            </a:r>
            <a:endParaRPr lang="en-US" sz="1500" dirty="0"/>
          </a:p>
        </p:txBody>
      </p:sp>
      <p:sp>
        <p:nvSpPr>
          <p:cNvPr id="30" name="num 4"/>
          <p:cNvSpPr/>
          <p:nvPr/>
        </p:nvSpPr>
        <p:spPr>
          <a:xfrm>
            <a:off x="8549640" y="3081528"/>
            <a:ext cx="347472" cy="347472"/>
          </a:xfrm>
          <a:prstGeom prst="ellipse">
            <a:avLst/>
          </a:prstGeom>
          <a:solidFill>
            <a:srgbClr val="E8590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549640" y="30815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9006840" y="3044952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2230"/>
                </a:solidFill>
              </a:rPr>
              <a:t>왼쪽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5D6678"/>
                </a:solidFill>
              </a:rPr>
              <a:t>이미지·글자 설정</a:t>
            </a:r>
            <a:endParaRPr lang="en-US" sz="1500" dirty="0"/>
          </a:p>
        </p:txBody>
      </p:sp>
      <p:sp>
        <p:nvSpPr>
          <p:cNvPr id="33" name="num 5"/>
          <p:cNvSpPr/>
          <p:nvPr/>
        </p:nvSpPr>
        <p:spPr>
          <a:xfrm>
            <a:off x="8549640" y="3685032"/>
            <a:ext cx="347472" cy="347472"/>
          </a:xfrm>
          <a:prstGeom prst="ellipse">
            <a:avLst/>
          </a:prstGeom>
          <a:solidFill>
            <a:srgbClr val="E8590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8549640" y="36850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35" name="Text 32"/>
          <p:cNvSpPr txBox="1"/>
          <p:nvPr/>
        </p:nvSpPr>
        <p:spPr>
          <a:xfrm>
            <a:off x="9006840" y="3648456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2230"/>
                </a:solidFill>
              </a:rPr>
              <a:t>편집 도구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5D6678"/>
                </a:solidFill>
              </a:rPr>
              <a:t>도형을 누르면 나타남</a:t>
            </a:r>
            <a:endParaRPr lang="en-US" sz="1500" dirty="0"/>
          </a:p>
        </p:txBody>
      </p:sp>
      <p:sp>
        <p:nvSpPr>
          <p:cNvPr id="36" name="num 6"/>
          <p:cNvSpPr/>
          <p:nvPr/>
        </p:nvSpPr>
        <p:spPr>
          <a:xfrm>
            <a:off x="8549640" y="4288536"/>
            <a:ext cx="347472" cy="347472"/>
          </a:xfrm>
          <a:prstGeom prst="ellipse">
            <a:avLst/>
          </a:prstGeom>
          <a:solidFill>
            <a:srgbClr val="E8590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8549640" y="42885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38" name="Text 35"/>
          <p:cNvSpPr txBox="1"/>
          <p:nvPr/>
        </p:nvSpPr>
        <p:spPr>
          <a:xfrm>
            <a:off x="9006840" y="425196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2230"/>
                </a:solidFill>
              </a:rPr>
              <a:t>미리보기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5D6678"/>
                </a:solidFill>
              </a:rPr>
              <a:t>2D · 3D</a:t>
            </a:r>
            <a:endParaRPr lang="en-US" sz="1500" dirty="0"/>
          </a:p>
        </p:txBody>
      </p:sp>
      <p:sp>
        <p:nvSpPr>
          <p:cNvPr id="39" name="num 7"/>
          <p:cNvSpPr/>
          <p:nvPr/>
        </p:nvSpPr>
        <p:spPr>
          <a:xfrm>
            <a:off x="8549640" y="4892040"/>
            <a:ext cx="347472" cy="347472"/>
          </a:xfrm>
          <a:prstGeom prst="ellipse">
            <a:avLst/>
          </a:prstGeom>
          <a:solidFill>
            <a:srgbClr val="E8590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549640" y="48920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7</a:t>
            </a:r>
            <a:endParaRPr lang="en-US" sz="1400" dirty="0"/>
          </a:p>
        </p:txBody>
      </p:sp>
      <p:sp>
        <p:nvSpPr>
          <p:cNvPr id="41" name="Text 38"/>
          <p:cNvSpPr txBox="1"/>
          <p:nvPr/>
        </p:nvSpPr>
        <p:spPr>
          <a:xfrm>
            <a:off x="9006840" y="4855464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2230"/>
                </a:solidFill>
              </a:rPr>
              <a:t>키캡 설정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5D6678"/>
                </a:solidFill>
              </a:rPr>
              <a:t>크기 · 글자 방식 · 스템</a:t>
            </a:r>
            <a:endParaRPr lang="en-US" sz="1500" dirty="0"/>
          </a:p>
        </p:txBody>
      </p:sp>
      <p:sp>
        <p:nvSpPr>
          <p:cNvPr id="42" name="num 8"/>
          <p:cNvSpPr/>
          <p:nvPr/>
        </p:nvSpPr>
        <p:spPr>
          <a:xfrm>
            <a:off x="8549640" y="5495544"/>
            <a:ext cx="347472" cy="347472"/>
          </a:xfrm>
          <a:prstGeom prst="ellipse">
            <a:avLst/>
          </a:prstGeom>
          <a:solidFill>
            <a:srgbClr val="E8590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8549640" y="54955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8</a:t>
            </a:r>
            <a:endParaRPr lang="en-US" sz="1400" dirty="0"/>
          </a:p>
        </p:txBody>
      </p:sp>
      <p:sp>
        <p:nvSpPr>
          <p:cNvPr id="44" name="Text 41"/>
          <p:cNvSpPr txBox="1"/>
          <p:nvPr/>
        </p:nvSpPr>
        <p:spPr>
          <a:xfrm>
            <a:off x="9006840" y="5458968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2230"/>
                </a:solidFill>
              </a:rPr>
              <a:t>안내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5D6678"/>
                </a:solidFill>
              </a:rPr>
              <a:t>빨간 경고 확인!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키캡은 다섯 단계로 만듭니다</a:t>
            </a:r>
            <a:endParaRPr lang="en-US" sz="3000" dirty="0"/>
          </a:p>
        </p:txBody>
      </p:sp>
      <p:sp>
        <p:nvSpPr>
          <p:cNvPr id="3" name="step 1"/>
          <p:cNvSpPr/>
          <p:nvPr/>
        </p:nvSpPr>
        <p:spPr>
          <a:xfrm>
            <a:off x="548640" y="1554480"/>
            <a:ext cx="2057400" cy="3017520"/>
          </a:xfrm>
          <a:prstGeom prst="roundRect">
            <a:avLst>
              <a:gd name="adj" fmla="val 5333"/>
            </a:avLst>
          </a:prstGeom>
          <a:solidFill>
            <a:srgbClr val="F3F4F7"/>
          </a:solidFill>
          <a:ln w="12700">
            <a:solidFill>
              <a:srgbClr val="DFE3EA"/>
            </a:solidFill>
            <a:prstDash val="solid"/>
          </a:ln>
        </p:spPr>
      </p:sp>
      <p:sp>
        <p:nvSpPr>
          <p:cNvPr id="4" name="num 1"/>
          <p:cNvSpPr/>
          <p:nvPr/>
        </p:nvSpPr>
        <p:spPr>
          <a:xfrm>
            <a:off x="777240" y="1783080"/>
            <a:ext cx="603504" cy="603504"/>
          </a:xfrm>
          <a:prstGeom prst="ellipse">
            <a:avLst/>
          </a:prstGeom>
          <a:solidFill>
            <a:srgbClr val="1D5FD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7830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5603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C2230"/>
                </a:solidFill>
              </a:rPr>
              <a:t>열기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15468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D6678"/>
                </a:solidFill>
              </a:rPr>
              <a:t>그림 끌어다 놓기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D6678"/>
                </a:solidFill>
              </a:rPr>
              <a:t>또는 텍스트 입력</a:t>
            </a:r>
            <a:endParaRPr lang="en-US" sz="1400" dirty="0"/>
          </a:p>
        </p:txBody>
      </p:sp>
      <p:sp>
        <p:nvSpPr>
          <p:cNvPr id="8" name="arrow 1"/>
          <p:cNvSpPr/>
          <p:nvPr/>
        </p:nvSpPr>
        <p:spPr>
          <a:xfrm>
            <a:off x="2642616" y="2880360"/>
            <a:ext cx="146304" cy="329184"/>
          </a:xfrm>
          <a:prstGeom prst="chevron">
            <a:avLst/>
          </a:prstGeom>
          <a:solidFill>
            <a:srgbClr val="B7C0D1"/>
          </a:solidFill>
          <a:ln w="12700">
            <a:solidFill>
              <a:srgbClr val="B7C0D1"/>
            </a:solidFill>
            <a:prstDash val="solid"/>
          </a:ln>
        </p:spPr>
      </p:sp>
      <p:sp>
        <p:nvSpPr>
          <p:cNvPr id="9" name="step 2"/>
          <p:cNvSpPr/>
          <p:nvPr/>
        </p:nvSpPr>
        <p:spPr>
          <a:xfrm>
            <a:off x="2816352" y="1554480"/>
            <a:ext cx="2057400" cy="3017520"/>
          </a:xfrm>
          <a:prstGeom prst="roundRect">
            <a:avLst>
              <a:gd name="adj" fmla="val 5333"/>
            </a:avLst>
          </a:prstGeom>
          <a:solidFill>
            <a:srgbClr val="F3F4F7"/>
          </a:solidFill>
          <a:ln w="12700">
            <a:solidFill>
              <a:srgbClr val="DFE3EA"/>
            </a:solidFill>
            <a:prstDash val="solid"/>
          </a:ln>
        </p:spPr>
      </p:sp>
      <p:sp>
        <p:nvSpPr>
          <p:cNvPr id="10" name="num 2"/>
          <p:cNvSpPr/>
          <p:nvPr/>
        </p:nvSpPr>
        <p:spPr>
          <a:xfrm>
            <a:off x="3044952" y="1783080"/>
            <a:ext cx="603504" cy="603504"/>
          </a:xfrm>
          <a:prstGeom prst="ellipse">
            <a:avLst/>
          </a:prstGeom>
          <a:solidFill>
            <a:srgbClr val="7048E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044952" y="17830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044952" y="25603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C2230"/>
                </a:solidFill>
              </a:rPr>
              <a:t>키캡 모드</a:t>
            </a:r>
            <a:endParaRPr lang="en-US" sz="2100" dirty="0"/>
          </a:p>
        </p:txBody>
      </p:sp>
      <p:sp>
        <p:nvSpPr>
          <p:cNvPr id="13" name="Text 11"/>
          <p:cNvSpPr txBox="1"/>
          <p:nvPr/>
        </p:nvSpPr>
        <p:spPr>
          <a:xfrm>
            <a:off x="3044952" y="315468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D6678"/>
                </a:solidFill>
              </a:rPr>
              <a:t>모드 → 키캡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D6678"/>
                </a:solidFill>
              </a:rPr>
              <a:t>크기가 윗면에 맞춰짐</a:t>
            </a:r>
            <a:endParaRPr lang="en-US" sz="1400" dirty="0"/>
          </a:p>
        </p:txBody>
      </p:sp>
      <p:sp>
        <p:nvSpPr>
          <p:cNvPr id="14" name="arrow 2"/>
          <p:cNvSpPr/>
          <p:nvPr/>
        </p:nvSpPr>
        <p:spPr>
          <a:xfrm>
            <a:off x="4910328" y="2880360"/>
            <a:ext cx="146304" cy="329184"/>
          </a:xfrm>
          <a:prstGeom prst="chevron">
            <a:avLst/>
          </a:prstGeom>
          <a:solidFill>
            <a:srgbClr val="B7C0D1"/>
          </a:solidFill>
          <a:ln w="12700">
            <a:solidFill>
              <a:srgbClr val="B7C0D1"/>
            </a:solidFill>
            <a:prstDash val="solid"/>
          </a:ln>
        </p:spPr>
      </p:sp>
      <p:sp>
        <p:nvSpPr>
          <p:cNvPr id="15" name="step 3"/>
          <p:cNvSpPr/>
          <p:nvPr/>
        </p:nvSpPr>
        <p:spPr>
          <a:xfrm>
            <a:off x="5084064" y="1554480"/>
            <a:ext cx="2057400" cy="3017520"/>
          </a:xfrm>
          <a:prstGeom prst="roundRect">
            <a:avLst>
              <a:gd name="adj" fmla="val 5333"/>
            </a:avLst>
          </a:prstGeom>
          <a:solidFill>
            <a:srgbClr val="FDECEC"/>
          </a:solidFill>
          <a:ln w="12700">
            <a:solidFill>
              <a:srgbClr val="F3B5B5"/>
            </a:solidFill>
            <a:prstDash val="solid"/>
          </a:ln>
        </p:spPr>
      </p:sp>
      <p:sp>
        <p:nvSpPr>
          <p:cNvPr id="16" name="num 3"/>
          <p:cNvSpPr/>
          <p:nvPr/>
        </p:nvSpPr>
        <p:spPr>
          <a:xfrm>
            <a:off x="5312664" y="1783080"/>
            <a:ext cx="603504" cy="603504"/>
          </a:xfrm>
          <a:prstGeom prst="ellipse">
            <a:avLst/>
          </a:prstGeom>
          <a:solidFill>
            <a:srgbClr val="C92A2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312664" y="17830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5312664" y="25603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C2230"/>
                </a:solidFill>
              </a:rPr>
              <a:t>선 굵게</a:t>
            </a:r>
            <a:endParaRPr lang="en-US" sz="2100" dirty="0"/>
          </a:p>
        </p:txBody>
      </p:sp>
      <p:sp>
        <p:nvSpPr>
          <p:cNvPr id="19" name="Text 17"/>
          <p:cNvSpPr txBox="1"/>
          <p:nvPr/>
        </p:nvSpPr>
        <p:spPr>
          <a:xfrm>
            <a:off x="5312664" y="315468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D6678"/>
                </a:solidFill>
              </a:rPr>
              <a:t>빨간 곳을 찾아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D6678"/>
                </a:solidFill>
              </a:rPr>
              <a:t>두께 + 로 굵게</a:t>
            </a:r>
            <a:endParaRPr lang="en-US" sz="1400" dirty="0"/>
          </a:p>
        </p:txBody>
      </p:sp>
      <p:sp>
        <p:nvSpPr>
          <p:cNvPr id="20" name="arrow 3"/>
          <p:cNvSpPr/>
          <p:nvPr/>
        </p:nvSpPr>
        <p:spPr>
          <a:xfrm>
            <a:off x="7178040" y="2880360"/>
            <a:ext cx="146304" cy="329184"/>
          </a:xfrm>
          <a:prstGeom prst="chevron">
            <a:avLst/>
          </a:prstGeom>
          <a:solidFill>
            <a:srgbClr val="B7C0D1"/>
          </a:solidFill>
          <a:ln w="12700">
            <a:solidFill>
              <a:srgbClr val="B7C0D1"/>
            </a:solidFill>
            <a:prstDash val="solid"/>
          </a:ln>
        </p:spPr>
      </p:sp>
      <p:sp>
        <p:nvSpPr>
          <p:cNvPr id="21" name="step 4"/>
          <p:cNvSpPr/>
          <p:nvPr/>
        </p:nvSpPr>
        <p:spPr>
          <a:xfrm>
            <a:off x="7351776" y="1554480"/>
            <a:ext cx="2057400" cy="3017520"/>
          </a:xfrm>
          <a:prstGeom prst="roundRect">
            <a:avLst>
              <a:gd name="adj" fmla="val 5333"/>
            </a:avLst>
          </a:prstGeom>
          <a:solidFill>
            <a:srgbClr val="F3F4F7"/>
          </a:solidFill>
          <a:ln w="12700">
            <a:solidFill>
              <a:srgbClr val="DFE3EA"/>
            </a:solidFill>
            <a:prstDash val="solid"/>
          </a:ln>
        </p:spPr>
      </p:sp>
      <p:sp>
        <p:nvSpPr>
          <p:cNvPr id="22" name="num 4"/>
          <p:cNvSpPr/>
          <p:nvPr/>
        </p:nvSpPr>
        <p:spPr>
          <a:xfrm>
            <a:off x="7580376" y="1783080"/>
            <a:ext cx="603504" cy="603504"/>
          </a:xfrm>
          <a:prstGeom prst="ellipse">
            <a:avLst/>
          </a:prstGeom>
          <a:solidFill>
            <a:srgbClr val="0CA67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580376" y="17830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7580376" y="25603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C2230"/>
                </a:solidFill>
              </a:rPr>
              <a:t>3D 확인</a:t>
            </a:r>
            <a:endParaRPr lang="en-US" sz="2100" dirty="0"/>
          </a:p>
        </p:txBody>
      </p:sp>
      <p:sp>
        <p:nvSpPr>
          <p:cNvPr id="25" name="Text 23"/>
          <p:cNvSpPr txBox="1"/>
          <p:nvPr/>
        </p:nvSpPr>
        <p:spPr>
          <a:xfrm>
            <a:off x="7580376" y="315468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D6678"/>
                </a:solidFill>
              </a:rPr>
              <a:t>위에서 보기로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D6678"/>
                </a:solidFill>
              </a:rPr>
              <a:t>모양 확인</a:t>
            </a:r>
            <a:endParaRPr lang="en-US" sz="1400" dirty="0"/>
          </a:p>
        </p:txBody>
      </p:sp>
      <p:sp>
        <p:nvSpPr>
          <p:cNvPr id="26" name="arrow 4"/>
          <p:cNvSpPr/>
          <p:nvPr/>
        </p:nvSpPr>
        <p:spPr>
          <a:xfrm>
            <a:off x="9445752" y="2880360"/>
            <a:ext cx="146304" cy="329184"/>
          </a:xfrm>
          <a:prstGeom prst="chevron">
            <a:avLst/>
          </a:prstGeom>
          <a:solidFill>
            <a:srgbClr val="B7C0D1"/>
          </a:solidFill>
          <a:ln w="12700">
            <a:solidFill>
              <a:srgbClr val="B7C0D1"/>
            </a:solidFill>
            <a:prstDash val="solid"/>
          </a:ln>
        </p:spPr>
      </p:sp>
      <p:sp>
        <p:nvSpPr>
          <p:cNvPr id="27" name="step 5"/>
          <p:cNvSpPr/>
          <p:nvPr/>
        </p:nvSpPr>
        <p:spPr>
          <a:xfrm>
            <a:off x="9619488" y="1554480"/>
            <a:ext cx="2057400" cy="3017520"/>
          </a:xfrm>
          <a:prstGeom prst="roundRect">
            <a:avLst>
              <a:gd name="adj" fmla="val 5333"/>
            </a:avLst>
          </a:prstGeom>
          <a:solidFill>
            <a:srgbClr val="F3F4F7"/>
          </a:solidFill>
          <a:ln w="12700">
            <a:solidFill>
              <a:srgbClr val="DFE3EA"/>
            </a:solidFill>
            <a:prstDash val="solid"/>
          </a:ln>
        </p:spPr>
      </p:sp>
      <p:sp>
        <p:nvSpPr>
          <p:cNvPr id="28" name="num 5"/>
          <p:cNvSpPr/>
          <p:nvPr/>
        </p:nvSpPr>
        <p:spPr>
          <a:xfrm>
            <a:off x="9848088" y="1783080"/>
            <a:ext cx="603504" cy="603504"/>
          </a:xfrm>
          <a:prstGeom prst="ellipse">
            <a:avLst/>
          </a:prstGeom>
          <a:solidFill>
            <a:srgbClr val="E8590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848088" y="17830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9848088" y="25603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C2230"/>
                </a:solidFill>
              </a:rPr>
              <a:t>3MF 저장</a:t>
            </a:r>
            <a:endParaRPr lang="en-US" sz="2100" dirty="0"/>
          </a:p>
        </p:txBody>
      </p:sp>
      <p:sp>
        <p:nvSpPr>
          <p:cNvPr id="31" name="Text 29"/>
          <p:cNvSpPr txBox="1"/>
          <p:nvPr/>
        </p:nvSpPr>
        <p:spPr>
          <a:xfrm>
            <a:off x="9848088" y="315468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D6678"/>
                </a:solidFill>
              </a:rPr>
              <a:t>색마다 파트로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D6678"/>
                </a:solidFill>
              </a:rPr>
              <a:t>나뉘어 저장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48640" y="4983480"/>
            <a:ext cx="11064240" cy="548640"/>
          </a:xfrm>
          <a:prstGeom prst="roundRect">
            <a:avLst>
              <a:gd name="adj" fmla="val 13333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31520" y="498348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1C1C"/>
                </a:solidFill>
              </a:rPr>
              <a:t>③ 선 굵게 하기가 오늘의 핵심입니다. 키캡은 아주 작아서 그대로 두면 선이 출력되지 않아요.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활동 1  물개 그림 키캡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7472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9D4EA"/>
                </a:solidFill>
              </a:rPr>
              <a:t>그림 열기 → 키캡 모드 → 선 굵게 → 3D 확인</a:t>
            </a:r>
            <a:endParaRPr lang="en-US" sz="1800" dirty="0"/>
          </a:p>
        </p:txBody>
      </p:sp>
      <p:pic>
        <p:nvPicPr>
          <p:cNvPr id="4" name="seal keycap" descr="물개 키캡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0" y="3931920"/>
            <a:ext cx="2468880" cy="24688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1. 그림 열기</a:t>
            </a:r>
            <a:endParaRPr lang="en-US" sz="3000" dirty="0"/>
          </a:p>
        </p:txBody>
      </p:sp>
      <p:sp>
        <p:nvSpPr>
          <p:cNvPr id="3" name="물개 그림을 불러온 화면 frame"/>
          <p:cNvSpPr/>
          <p:nvPr/>
        </p:nvSpPr>
        <p:spPr>
          <a:xfrm>
            <a:off x="512064" y="1414928"/>
            <a:ext cx="7296912" cy="3845263"/>
          </a:xfrm>
          <a:prstGeom prst="rect">
            <a:avLst/>
          </a:prstGeom>
          <a:solidFill>
            <a:srgbClr val="FFFFFF"/>
          </a:solidFill>
          <a:ln w="12700">
            <a:solidFill>
              <a:srgbClr val="DFE3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물개 그림을 불러온 화면" descr="물개 그림을 불러온 화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51504"/>
            <a:ext cx="7223760" cy="3772111"/>
          </a:xfrm>
          <a:prstGeom prst="rect">
            <a:avLst/>
          </a:prstGeom>
        </p:spPr>
      </p:pic>
      <p:sp>
        <p:nvSpPr>
          <p:cNvPr id="5" name="num 1"/>
          <p:cNvSpPr/>
          <p:nvPr/>
        </p:nvSpPr>
        <p:spPr>
          <a:xfrm>
            <a:off x="8138160" y="1298448"/>
            <a:ext cx="347472" cy="347472"/>
          </a:xfrm>
          <a:prstGeom prst="ellipse">
            <a:avLst/>
          </a:prstGeom>
          <a:solidFill>
            <a:srgbClr val="1D5FD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138160" y="12984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641080" y="1280160"/>
            <a:ext cx="306324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C2230"/>
                </a:solidFill>
              </a:rPr>
              <a:t>끌어다 놓기 · Ctrl+V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D6678"/>
                </a:solidFill>
              </a:rPr>
              <a:t>이미지 열기… 버튼도 가능</a:t>
            </a:r>
            <a:endParaRPr lang="en-US" sz="1500" dirty="0"/>
          </a:p>
        </p:txBody>
      </p:sp>
      <p:sp>
        <p:nvSpPr>
          <p:cNvPr id="8" name="num 2"/>
          <p:cNvSpPr/>
          <p:nvPr/>
        </p:nvSpPr>
        <p:spPr>
          <a:xfrm>
            <a:off x="8138160" y="2258568"/>
            <a:ext cx="347472" cy="347472"/>
          </a:xfrm>
          <a:prstGeom prst="ellipse">
            <a:avLst/>
          </a:prstGeom>
          <a:solidFill>
            <a:srgbClr val="1D5FD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138160" y="22585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641080" y="2240280"/>
            <a:ext cx="306324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C2230"/>
                </a:solidFill>
              </a:rPr>
              <a:t>색 수 자동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D6678"/>
                </a:solidFill>
              </a:rPr>
              <a:t>물개는 3색 → 테두리 · 몸통 2색</a:t>
            </a:r>
            <a:endParaRPr lang="en-US" sz="1500" dirty="0"/>
          </a:p>
        </p:txBody>
      </p:sp>
      <p:sp>
        <p:nvSpPr>
          <p:cNvPr id="11" name="num 3"/>
          <p:cNvSpPr/>
          <p:nvPr/>
        </p:nvSpPr>
        <p:spPr>
          <a:xfrm>
            <a:off x="8138160" y="3218688"/>
            <a:ext cx="347472" cy="347472"/>
          </a:xfrm>
          <a:prstGeom prst="ellipse">
            <a:avLst/>
          </a:prstGeom>
          <a:solidFill>
            <a:srgbClr val="1D5FD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138160" y="32186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8641080" y="3200400"/>
            <a:ext cx="306324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C2230"/>
                </a:solidFill>
              </a:rPr>
              <a:t>배경 자동 제거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D6678"/>
                </a:solidFill>
              </a:rPr>
              <a:t>흰 바탕은 지워짐</a:t>
            </a:r>
            <a:endParaRPr lang="en-US" sz="1500" dirty="0"/>
          </a:p>
        </p:txBody>
      </p:sp>
      <p:sp>
        <p:nvSpPr>
          <p:cNvPr id="14" name="num 4"/>
          <p:cNvSpPr/>
          <p:nvPr/>
        </p:nvSpPr>
        <p:spPr>
          <a:xfrm>
            <a:off x="8138160" y="4178808"/>
            <a:ext cx="347472" cy="347472"/>
          </a:xfrm>
          <a:prstGeom prst="ellipse">
            <a:avLst/>
          </a:prstGeom>
          <a:solidFill>
            <a:srgbClr val="1D5FD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138160" y="41788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8641080" y="4160520"/>
            <a:ext cx="306324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C2230"/>
                </a:solidFill>
              </a:rPr>
              <a:t>아래 색 칸 확인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D6678"/>
                </a:solidFill>
              </a:rPr>
              <a:t>■ 진한 회색 = 선  ■ 연한 회색 = 몸통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548640" y="5623560"/>
            <a:ext cx="7223760" cy="502920"/>
          </a:xfrm>
          <a:prstGeom prst="roundRect">
            <a:avLst>
              <a:gd name="adj" fmla="val 14545"/>
            </a:avLst>
          </a:prstGeom>
          <a:solidFill>
            <a:srgbClr val="E8F0FD"/>
          </a:solidFill>
          <a:ln w="12700">
            <a:solidFill>
              <a:srgbClr val="E8F0FD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31520" y="562356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3557"/>
                </a:solidFill>
              </a:rPr>
              <a:t>선과 면의 색이 뚜렷한 그림이 키캡에 잘 맞아요.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열자마자 — 구멍·불필요한 조각 정리</a:t>
            </a:r>
            <a:endParaRPr lang="en-US" sz="3000" dirty="0"/>
          </a:p>
        </p:txBody>
      </p:sp>
      <p:sp>
        <p:nvSpPr>
          <p:cNvPr id="3" name="도형 선택 상태 frame"/>
          <p:cNvSpPr/>
          <p:nvPr/>
        </p:nvSpPr>
        <p:spPr>
          <a:xfrm>
            <a:off x="512064" y="1247740"/>
            <a:ext cx="6473952" cy="4545399"/>
          </a:xfrm>
          <a:prstGeom prst="rect">
            <a:avLst/>
          </a:prstGeom>
          <a:solidFill>
            <a:srgbClr val="FFFFFF"/>
          </a:solidFill>
          <a:ln w="12700">
            <a:solidFill>
              <a:srgbClr val="DFE3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도형 선택 상태" descr="도형 선택 상태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4316"/>
            <a:ext cx="6400800" cy="4472247"/>
          </a:xfrm>
          <a:prstGeom prst="rect">
            <a:avLst/>
          </a:prstGeom>
        </p:spPr>
      </p:pic>
      <p:sp>
        <p:nvSpPr>
          <p:cNvPr id="5" name="num 1"/>
          <p:cNvSpPr/>
          <p:nvPr/>
        </p:nvSpPr>
        <p:spPr>
          <a:xfrm>
            <a:off x="7223760" y="1298448"/>
            <a:ext cx="347472" cy="347472"/>
          </a:xfrm>
          <a:prstGeom prst="ellipse">
            <a:avLst/>
          </a:prstGeom>
          <a:solidFill>
            <a:srgbClr val="1D5FD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223760" y="12984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726680" y="1280160"/>
            <a:ext cx="397764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C2230"/>
                </a:solidFill>
              </a:rPr>
              <a:t>도형을 눌러 선택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D6678"/>
                </a:solidFill>
              </a:rPr>
              <a:t>테두리가 파랗게 바뀜</a:t>
            </a:r>
            <a:endParaRPr lang="en-US" sz="1500" dirty="0"/>
          </a:p>
        </p:txBody>
      </p:sp>
      <p:sp>
        <p:nvSpPr>
          <p:cNvPr id="8" name="num 2"/>
          <p:cNvSpPr/>
          <p:nvPr/>
        </p:nvSpPr>
        <p:spPr>
          <a:xfrm>
            <a:off x="7223760" y="2258568"/>
            <a:ext cx="347472" cy="347472"/>
          </a:xfrm>
          <a:prstGeom prst="ellipse">
            <a:avLst/>
          </a:prstGeom>
          <a:solidFill>
            <a:srgbClr val="1D5FD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223760" y="22585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726680" y="2240280"/>
            <a:ext cx="397764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C2230"/>
                </a:solidFill>
              </a:rPr>
              <a:t>구멍이 있다면 → 구멍 채우기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D6678"/>
                </a:solidFill>
              </a:rPr>
              <a:t>배경 제거 후 생긴 빈 틈을 메움</a:t>
            </a:r>
            <a:endParaRPr lang="en-US" sz="1500" dirty="0"/>
          </a:p>
        </p:txBody>
      </p:sp>
      <p:sp>
        <p:nvSpPr>
          <p:cNvPr id="11" name="num 3"/>
          <p:cNvSpPr/>
          <p:nvPr/>
        </p:nvSpPr>
        <p:spPr>
          <a:xfrm>
            <a:off x="7223760" y="3218688"/>
            <a:ext cx="347472" cy="347472"/>
          </a:xfrm>
          <a:prstGeom prst="ellipse">
            <a:avLst/>
          </a:prstGeom>
          <a:solidFill>
            <a:srgbClr val="1D5FD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223760" y="32186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7726680" y="3200400"/>
            <a:ext cx="397764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C2230"/>
                </a:solidFill>
              </a:rPr>
              <a:t>쓰지 않을 조각 → Delete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D6678"/>
                </a:solidFill>
              </a:rPr>
              <a:t>너무 작은 점·얼룩은 미리 지우면 편해요</a:t>
            </a:r>
            <a:endParaRPr lang="en-US" sz="1500" dirty="0"/>
          </a:p>
        </p:txBody>
      </p:sp>
      <p:sp>
        <p:nvSpPr>
          <p:cNvPr id="14" name="num 4"/>
          <p:cNvSpPr/>
          <p:nvPr/>
        </p:nvSpPr>
        <p:spPr>
          <a:xfrm>
            <a:off x="7223760" y="4178808"/>
            <a:ext cx="347472" cy="347472"/>
          </a:xfrm>
          <a:prstGeom prst="ellipse">
            <a:avLst/>
          </a:prstGeom>
          <a:solidFill>
            <a:srgbClr val="1D5FD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223760" y="41788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7726680" y="4160520"/>
            <a:ext cx="397764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C2230"/>
                </a:solidFill>
              </a:rPr>
              <a:t>여러 개는 Ctrl·Shift+클릭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D6678"/>
                </a:solidFill>
              </a:rPr>
              <a:t>한꺼번에 선택해 같이 정리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548640" y="5897880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E8F0FD"/>
          </a:solidFill>
          <a:ln w="12700">
            <a:solidFill>
              <a:srgbClr val="E8F0FD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31520" y="589788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3557"/>
                </a:solidFill>
              </a:rPr>
              <a:t>정리는 선택 사항이지만, 작은 얼룩이 많으면 다음 단계(선 굵게)에서 서로 붙어 모양이 망가지기 쉬워요.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2. 키캡 모드 켜기</a:t>
            </a:r>
            <a:endParaRPr lang="en-US" sz="3000" dirty="0"/>
          </a:p>
        </p:txBody>
      </p:sp>
      <p:sp>
        <p:nvSpPr>
          <p:cNvPr id="3" name="키캡 모드 3D frame"/>
          <p:cNvSpPr/>
          <p:nvPr/>
        </p:nvSpPr>
        <p:spPr>
          <a:xfrm>
            <a:off x="512064" y="1212411"/>
            <a:ext cx="6473952" cy="4296017"/>
          </a:xfrm>
          <a:prstGeom prst="rect">
            <a:avLst/>
          </a:prstGeom>
          <a:solidFill>
            <a:srgbClr val="FFFFFF"/>
          </a:solidFill>
          <a:ln w="12700">
            <a:solidFill>
              <a:srgbClr val="DFE3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키캡 모드 3D" descr="키캡 모드 3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48987"/>
            <a:ext cx="6400800" cy="4222865"/>
          </a:xfrm>
          <a:prstGeom prst="rect">
            <a:avLst/>
          </a:prstGeom>
        </p:spPr>
      </p:pic>
      <p:sp>
        <p:nvSpPr>
          <p:cNvPr id="5" name="num 1"/>
          <p:cNvSpPr/>
          <p:nvPr/>
        </p:nvSpPr>
        <p:spPr>
          <a:xfrm>
            <a:off x="7315200" y="1298448"/>
            <a:ext cx="347472" cy="347472"/>
          </a:xfrm>
          <a:prstGeom prst="ellipse">
            <a:avLst/>
          </a:prstGeom>
          <a:solidFill>
            <a:srgbClr val="7048E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0" y="12984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818120" y="1280160"/>
            <a:ext cx="388620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C2230"/>
                </a:solidFill>
              </a:rPr>
              <a:t>모드 → 키캡 (MX 호환)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D6678"/>
                </a:solidFill>
              </a:rPr>
              <a:t>위쪽 모드 칸에서 선택</a:t>
            </a:r>
            <a:endParaRPr lang="en-US" sz="1500" dirty="0"/>
          </a:p>
        </p:txBody>
      </p:sp>
      <p:sp>
        <p:nvSpPr>
          <p:cNvPr id="8" name="num 2"/>
          <p:cNvSpPr/>
          <p:nvPr/>
        </p:nvSpPr>
        <p:spPr>
          <a:xfrm>
            <a:off x="7315200" y="2258568"/>
            <a:ext cx="347472" cy="347472"/>
          </a:xfrm>
          <a:prstGeom prst="ellipse">
            <a:avLst/>
          </a:prstGeom>
          <a:solidFill>
            <a:srgbClr val="7048E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0" y="22585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818120" y="2240280"/>
            <a:ext cx="388620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C2230"/>
                </a:solidFill>
              </a:rPr>
              <a:t>너비가 자동으로 9mm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D6678"/>
                </a:solidFill>
              </a:rPr>
              <a:t>윗면(10.9mm)에 맞게 줄어듦</a:t>
            </a:r>
            <a:endParaRPr lang="en-US" sz="1500" dirty="0"/>
          </a:p>
        </p:txBody>
      </p:sp>
      <p:sp>
        <p:nvSpPr>
          <p:cNvPr id="11" name="num 3"/>
          <p:cNvSpPr/>
          <p:nvPr/>
        </p:nvSpPr>
        <p:spPr>
          <a:xfrm>
            <a:off x="7315200" y="3218688"/>
            <a:ext cx="347472" cy="347472"/>
          </a:xfrm>
          <a:prstGeom prst="ellipse">
            <a:avLst/>
          </a:prstGeom>
          <a:solidFill>
            <a:srgbClr val="7048E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315200" y="32186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7818120" y="3200400"/>
            <a:ext cx="388620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C2230"/>
                </a:solidFill>
              </a:rPr>
              <a:t>크기 1u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D6678"/>
                </a:solidFill>
              </a:rPr>
              <a:t>1.25u · 2u … 스페이스바까지</a:t>
            </a:r>
            <a:endParaRPr lang="en-US" sz="1500" dirty="0"/>
          </a:p>
        </p:txBody>
      </p:sp>
      <p:sp>
        <p:nvSpPr>
          <p:cNvPr id="14" name="num 4"/>
          <p:cNvSpPr/>
          <p:nvPr/>
        </p:nvSpPr>
        <p:spPr>
          <a:xfrm>
            <a:off x="7315200" y="4178808"/>
            <a:ext cx="347472" cy="347472"/>
          </a:xfrm>
          <a:prstGeom prst="ellipse">
            <a:avLst/>
          </a:prstGeom>
          <a:solidFill>
            <a:srgbClr val="7048E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315200" y="41788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7818120" y="4160520"/>
            <a:ext cx="388620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C2230"/>
                </a:solidFill>
              </a:rPr>
              <a:t>글자 방식 돋을(볼록)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D6678"/>
                </a:solidFill>
              </a:rPr>
              <a:t>새김 · 상감도 가능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548640" y="5669280"/>
            <a:ext cx="11064240" cy="457200"/>
          </a:xfrm>
          <a:prstGeom prst="roundRect">
            <a:avLst>
              <a:gd name="adj" fmla="val 16000"/>
            </a:avLst>
          </a:prstGeom>
          <a:solidFill>
            <a:srgbClr val="EFEBFC"/>
          </a:solidFill>
          <a:ln w="12700">
            <a:solidFill>
              <a:srgbClr val="EFEBF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31520" y="56692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2FA8"/>
                </a:solidFill>
              </a:rPr>
              <a:t>3D 화면을 끌어 돌려 보세요. 아직은 선이 너무 가늘어 거의 보이지 않아요.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3. 빨간 곳 = 너무 가는 선</a:t>
            </a:r>
            <a:endParaRPr lang="en-US" sz="3000" dirty="0"/>
          </a:p>
        </p:txBody>
      </p:sp>
      <p:sp>
        <p:nvSpPr>
          <p:cNvPr id="3" name="가는 부분 빨간 표시 frame"/>
          <p:cNvSpPr/>
          <p:nvPr/>
        </p:nvSpPr>
        <p:spPr>
          <a:xfrm>
            <a:off x="546559" y="1197864"/>
            <a:ext cx="5764881" cy="5010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FE3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가는 부분 빨간 표시" descr="가는 부분 빨간 표시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3135" y="1234440"/>
            <a:ext cx="5691729" cy="49377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766560" y="1325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D6678"/>
                </a:solidFill>
              </a:rPr>
              <a:t>지금 선 폭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6766560" y="164592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C92A2A"/>
                </a:solidFill>
              </a:rPr>
              <a:t>0.05</a:t>
            </a:r>
            <a:pPr indent="0" marL="0">
              <a:buNone/>
            </a:pPr>
            <a:r>
              <a:rPr lang="en-US" sz="2000" b="1" dirty="0">
                <a:solidFill>
                  <a:srgbClr val="C92A2A"/>
                </a:solidFill>
              </a:rPr>
              <a:t> mm</a:t>
            </a:r>
            <a:endParaRPr lang="en-US" sz="5400" dirty="0"/>
          </a:p>
        </p:txBody>
      </p:sp>
      <p:sp>
        <p:nvSpPr>
          <p:cNvPr id="7" name="Text 4"/>
          <p:cNvSpPr txBox="1"/>
          <p:nvPr/>
        </p:nvSpPr>
        <p:spPr>
          <a:xfrm>
            <a:off x="9326880" y="1325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D6678"/>
                </a:solidFill>
              </a:rPr>
              <a:t>필요한 선 폭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9326880" y="164592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CA678"/>
                </a:solidFill>
              </a:rPr>
              <a:t>0.8</a:t>
            </a:r>
            <a:pPr indent="0" marL="0">
              <a:buNone/>
            </a:pPr>
            <a:r>
              <a:rPr lang="en-US" sz="2000" b="1" dirty="0">
                <a:solidFill>
                  <a:srgbClr val="0CA678"/>
                </a:solidFill>
              </a:rPr>
              <a:t> mm</a:t>
            </a:r>
            <a:endParaRPr lang="en-US" sz="5400" dirty="0"/>
          </a:p>
        </p:txBody>
      </p:sp>
      <p:sp>
        <p:nvSpPr>
          <p:cNvPr id="9" name="Text 6"/>
          <p:cNvSpPr txBox="1"/>
          <p:nvPr/>
        </p:nvSpPr>
        <p:spPr>
          <a:xfrm>
            <a:off x="9326880" y="25603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678"/>
                </a:solidFill>
              </a:rPr>
              <a:t>노즐 0.4mm 두 줄</a:t>
            </a:r>
            <a:endParaRPr lang="en-US" sz="1200" dirty="0"/>
          </a:p>
        </p:txBody>
      </p:sp>
      <p:sp>
        <p:nvSpPr>
          <p:cNvPr id="10" name="num 1"/>
          <p:cNvSpPr/>
          <p:nvPr/>
        </p:nvSpPr>
        <p:spPr>
          <a:xfrm>
            <a:off x="6766560" y="3218688"/>
            <a:ext cx="347472" cy="347472"/>
          </a:xfrm>
          <a:prstGeom prst="ellipse">
            <a:avLst/>
          </a:prstGeom>
          <a:solidFill>
            <a:srgbClr val="C92A2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766560" y="32186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7269480" y="3200400"/>
            <a:ext cx="443484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C2230"/>
                </a:solidFill>
              </a:rPr>
              <a:t>그림을 10mm로 줄였기 때문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D6678"/>
                </a:solidFill>
              </a:rPr>
              <a:t>50mm일 때 0.25mm 선 → 9mm면 0.05mm</a:t>
            </a:r>
            <a:endParaRPr lang="en-US" sz="1500" dirty="0"/>
          </a:p>
        </p:txBody>
      </p:sp>
      <p:sp>
        <p:nvSpPr>
          <p:cNvPr id="13" name="num 2"/>
          <p:cNvSpPr/>
          <p:nvPr/>
        </p:nvSpPr>
        <p:spPr>
          <a:xfrm>
            <a:off x="6766560" y="4087368"/>
            <a:ext cx="347472" cy="347472"/>
          </a:xfrm>
          <a:prstGeom prst="ellipse">
            <a:avLst/>
          </a:prstGeom>
          <a:solidFill>
            <a:srgbClr val="C92A2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766560" y="40873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7269480" y="4069080"/>
            <a:ext cx="443484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C2230"/>
                </a:solidFill>
              </a:rPr>
              <a:t>빨간 표시가 알려 줘요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D6678"/>
                </a:solidFill>
              </a:rPr>
              <a:t>⚠ 가는 부분 버튼으로 켜고 끄기</a:t>
            </a:r>
            <a:endParaRPr lang="en-US" sz="1500" dirty="0"/>
          </a:p>
        </p:txBody>
      </p:sp>
      <p:sp>
        <p:nvSpPr>
          <p:cNvPr id="16" name="num 3"/>
          <p:cNvSpPr/>
          <p:nvPr/>
        </p:nvSpPr>
        <p:spPr>
          <a:xfrm>
            <a:off x="6766560" y="4956048"/>
            <a:ext cx="347472" cy="347472"/>
          </a:xfrm>
          <a:prstGeom prst="ellipse">
            <a:avLst/>
          </a:prstGeom>
          <a:solidFill>
            <a:srgbClr val="C92A2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766560" y="49560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7269480" y="4937760"/>
            <a:ext cx="443484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C2230"/>
                </a:solidFill>
              </a:rPr>
              <a:t>그대로 출력하면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D6678"/>
                </a:solidFill>
              </a:rPr>
              <a:t>선이 안 나오거나 끊어져요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4. 선 굵게 하기 ★</a:t>
            </a:r>
            <a:endParaRPr lang="en-US" sz="3000" dirty="0"/>
          </a:p>
        </p:txBody>
      </p:sp>
      <p:sp>
        <p:nvSpPr>
          <p:cNvPr id="3" name="편집 도구 frame"/>
          <p:cNvSpPr/>
          <p:nvPr/>
        </p:nvSpPr>
        <p:spPr>
          <a:xfrm>
            <a:off x="512064" y="1787177"/>
            <a:ext cx="6748272" cy="723326"/>
          </a:xfrm>
          <a:prstGeom prst="rect">
            <a:avLst/>
          </a:prstGeom>
          <a:solidFill>
            <a:srgbClr val="FFFFFF"/>
          </a:solidFill>
          <a:ln w="12700">
            <a:solidFill>
              <a:srgbClr val="DFE3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편집 도구" descr="편집 도구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23753"/>
            <a:ext cx="6675120" cy="650174"/>
          </a:xfrm>
          <a:prstGeom prst="rect">
            <a:avLst/>
          </a:prstGeom>
        </p:spPr>
      </p:pic>
      <p:sp>
        <p:nvSpPr>
          <p:cNvPr id="5" name="num 1"/>
          <p:cNvSpPr/>
          <p:nvPr/>
        </p:nvSpPr>
        <p:spPr>
          <a:xfrm>
            <a:off x="972589" y="1412273"/>
            <a:ext cx="365760" cy="365760"/>
          </a:xfrm>
          <a:prstGeom prst="ellipse">
            <a:avLst/>
          </a:prstGeom>
          <a:solidFill>
            <a:srgbClr val="C92A2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972589" y="1412273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num 2"/>
          <p:cNvSpPr/>
          <p:nvPr/>
        </p:nvSpPr>
        <p:spPr>
          <a:xfrm>
            <a:off x="3963390" y="1412273"/>
            <a:ext cx="365760" cy="365760"/>
          </a:xfrm>
          <a:prstGeom prst="ellipse">
            <a:avLst/>
          </a:prstGeom>
          <a:solidFill>
            <a:srgbClr val="C92A2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963390" y="1412273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num 3"/>
          <p:cNvSpPr/>
          <p:nvPr/>
        </p:nvSpPr>
        <p:spPr>
          <a:xfrm>
            <a:off x="1015934" y="2537935"/>
            <a:ext cx="365760" cy="365760"/>
          </a:xfrm>
          <a:prstGeom prst="ellipse">
            <a:avLst/>
          </a:prstGeom>
          <a:solidFill>
            <a:srgbClr val="C92A2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015934" y="2537935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num 4"/>
          <p:cNvSpPr/>
          <p:nvPr/>
        </p:nvSpPr>
        <p:spPr>
          <a:xfrm>
            <a:off x="1700784" y="2537935"/>
            <a:ext cx="365760" cy="365760"/>
          </a:xfrm>
          <a:prstGeom prst="ellipse">
            <a:avLst/>
          </a:prstGeom>
          <a:solidFill>
            <a:srgbClr val="C92A2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700784" y="2537935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3" name="선택된 물개 테두리 frame"/>
          <p:cNvSpPr/>
          <p:nvPr/>
        </p:nvSpPr>
        <p:spPr>
          <a:xfrm>
            <a:off x="1238771" y="3209544"/>
            <a:ext cx="5294857" cy="2907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FE3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14" name="선택된 물개 테두리" descr="선택된 물개 테두리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5347" y="3246120"/>
            <a:ext cx="5221705" cy="2834640"/>
          </a:xfrm>
          <a:prstGeom prst="rect">
            <a:avLst/>
          </a:prstGeom>
        </p:spPr>
      </p:pic>
      <p:sp>
        <p:nvSpPr>
          <p:cNvPr id="15" name="num 1"/>
          <p:cNvSpPr/>
          <p:nvPr/>
        </p:nvSpPr>
        <p:spPr>
          <a:xfrm>
            <a:off x="7589520" y="1298448"/>
            <a:ext cx="347472" cy="347472"/>
          </a:xfrm>
          <a:prstGeom prst="ellipse">
            <a:avLst/>
          </a:prstGeom>
          <a:solidFill>
            <a:srgbClr val="C92A2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7589520" y="12984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8092440" y="1280160"/>
            <a:ext cx="361188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1C2230"/>
                </a:solidFill>
              </a:rPr>
              <a:t>선 클릭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5D6678"/>
                </a:solidFill>
              </a:rPr>
              <a:t>진한 테두리 선을 누르면 파랗게 선택</a:t>
            </a:r>
            <a:endParaRPr lang="en-US" sz="1600" dirty="0"/>
          </a:p>
        </p:txBody>
      </p:sp>
      <p:sp>
        <p:nvSpPr>
          <p:cNvPr id="18" name="num 2"/>
          <p:cNvSpPr/>
          <p:nvPr/>
        </p:nvSpPr>
        <p:spPr>
          <a:xfrm>
            <a:off x="7589520" y="2258568"/>
            <a:ext cx="347472" cy="347472"/>
          </a:xfrm>
          <a:prstGeom prst="ellipse">
            <a:avLst/>
          </a:prstGeom>
          <a:solidFill>
            <a:srgbClr val="C92A2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7589520" y="22585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20" name="Text 16"/>
          <p:cNvSpPr txBox="1"/>
          <p:nvPr/>
        </p:nvSpPr>
        <p:spPr>
          <a:xfrm>
            <a:off x="8092440" y="2240280"/>
            <a:ext cx="361188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1C2230"/>
                </a:solidFill>
              </a:rPr>
              <a:t>범위 → 이 색 전체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5D6678"/>
                </a:solidFill>
              </a:rPr>
              <a:t>같은 색 선을 한꺼번에</a:t>
            </a:r>
            <a:endParaRPr lang="en-US" sz="1600" dirty="0"/>
          </a:p>
        </p:txBody>
      </p:sp>
      <p:sp>
        <p:nvSpPr>
          <p:cNvPr id="21" name="num 3"/>
          <p:cNvSpPr/>
          <p:nvPr/>
        </p:nvSpPr>
        <p:spPr>
          <a:xfrm>
            <a:off x="7589520" y="3218688"/>
            <a:ext cx="347472" cy="347472"/>
          </a:xfrm>
          <a:prstGeom prst="ellipse">
            <a:avLst/>
          </a:prstGeom>
          <a:solidFill>
            <a:srgbClr val="C92A2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7589520" y="32186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3" name="Text 19"/>
          <p:cNvSpPr txBox="1"/>
          <p:nvPr/>
        </p:nvSpPr>
        <p:spPr>
          <a:xfrm>
            <a:off x="8092440" y="3200400"/>
            <a:ext cx="361188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1C2230"/>
                </a:solidFill>
              </a:rPr>
              <a:t>두께 칸 0.2 (mm)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5D6678"/>
                </a:solidFill>
              </a:rPr>
              <a:t>한 번 누를 때 늘어나는 양</a:t>
            </a:r>
            <a:endParaRPr lang="en-US" sz="1600" dirty="0"/>
          </a:p>
        </p:txBody>
      </p:sp>
      <p:sp>
        <p:nvSpPr>
          <p:cNvPr id="24" name="num 4"/>
          <p:cNvSpPr/>
          <p:nvPr/>
        </p:nvSpPr>
        <p:spPr>
          <a:xfrm>
            <a:off x="7589520" y="4178808"/>
            <a:ext cx="347472" cy="347472"/>
          </a:xfrm>
          <a:prstGeom prst="ellipse">
            <a:avLst/>
          </a:prstGeom>
          <a:solidFill>
            <a:srgbClr val="C92A2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7589520" y="41788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6" name="Text 22"/>
          <p:cNvSpPr txBox="1"/>
          <p:nvPr/>
        </p:nvSpPr>
        <p:spPr>
          <a:xfrm>
            <a:off x="8092440" y="4160520"/>
            <a:ext cx="361188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1C2230"/>
                </a:solidFill>
              </a:rPr>
              <a:t>+ 누르기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5D6678"/>
                </a:solidFill>
              </a:rPr>
              <a:t>양쪽으로 0.2씩 → 선 폭 +0.4mm</a:t>
            </a:r>
            <a:endParaRPr lang="en-US" sz="1600" dirty="0"/>
          </a:p>
        </p:txBody>
      </p:sp>
      <p:sp>
        <p:nvSpPr>
          <p:cNvPr id="27" name="Shape 23"/>
          <p:cNvSpPr/>
          <p:nvPr/>
        </p:nvSpPr>
        <p:spPr>
          <a:xfrm>
            <a:off x="7589520" y="5257800"/>
            <a:ext cx="4114800" cy="640080"/>
          </a:xfrm>
          <a:prstGeom prst="roundRect">
            <a:avLst>
              <a:gd name="adj" fmla="val 11429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7772400" y="525780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1C1C"/>
                </a:solidFill>
              </a:rPr>
              <a:t>− 를 누르면 다시 가늘어지고, Ctrl+Z로 처음으로 돌아갑니다.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몇 번 누를까? 결과 비교</a:t>
            </a:r>
            <a:endParaRPr lang="en-US" sz="3000" dirty="0"/>
          </a:p>
        </p:txBody>
      </p:sp>
      <p:sp>
        <p:nvSpPr>
          <p:cNvPr id="3" name="그대로 frame"/>
          <p:cNvSpPr/>
          <p:nvPr/>
        </p:nvSpPr>
        <p:spPr>
          <a:xfrm>
            <a:off x="512064" y="1540764"/>
            <a:ext cx="3593592" cy="2176272"/>
          </a:xfrm>
          <a:prstGeom prst="rect">
            <a:avLst/>
          </a:prstGeom>
          <a:solidFill>
            <a:srgbClr val="FFFFFF"/>
          </a:solidFill>
          <a:ln w="12700">
            <a:solidFill>
              <a:srgbClr val="DFE3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그대로" descr="그대로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77340"/>
            <a:ext cx="3520440" cy="21031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4206240"/>
            <a:ext cx="3520440" cy="457200"/>
          </a:xfrm>
          <a:prstGeom prst="roundRect">
            <a:avLst>
              <a:gd name="adj" fmla="val 50000"/>
            </a:avLst>
          </a:prstGeom>
          <a:solidFill>
            <a:srgbClr val="C92A2A"/>
          </a:solidFill>
          <a:ln w="12700">
            <a:solidFill>
              <a:srgbClr val="C92A2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420624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그대로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75488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C2230"/>
                </a:solidFill>
              </a:rPr>
              <a:t>선 약 0.05mm — 출력 안 됨</a:t>
            </a:r>
            <a:endParaRPr lang="en-US" sz="1400" dirty="0"/>
          </a:p>
        </p:txBody>
      </p:sp>
      <p:sp>
        <p:nvSpPr>
          <p:cNvPr id="8" name="+ 한 번 (0.2) frame"/>
          <p:cNvSpPr/>
          <p:nvPr/>
        </p:nvSpPr>
        <p:spPr>
          <a:xfrm>
            <a:off x="4261104" y="1540764"/>
            <a:ext cx="3593592" cy="2176272"/>
          </a:xfrm>
          <a:prstGeom prst="rect">
            <a:avLst/>
          </a:prstGeom>
          <a:solidFill>
            <a:srgbClr val="FFFFFF"/>
          </a:solidFill>
          <a:ln w="12700">
            <a:solidFill>
              <a:srgbClr val="DFE3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9" name="+ 한 번 (0.2)" descr="+ 한 번 (0.2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577340"/>
            <a:ext cx="3520440" cy="210312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297680" y="4206240"/>
            <a:ext cx="3520440" cy="457200"/>
          </a:xfrm>
          <a:prstGeom prst="roundRect">
            <a:avLst>
              <a:gd name="adj" fmla="val 50000"/>
            </a:avLst>
          </a:prstGeom>
          <a:solidFill>
            <a:srgbClr val="0CA678"/>
          </a:solidFill>
          <a:ln w="12700">
            <a:solidFill>
              <a:srgbClr val="0CA678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4297680" y="420624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+ 한 번 (0.2)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4297680" y="475488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C2230"/>
                </a:solidFill>
              </a:rPr>
              <a:t>선 약 0.45mm — 물개 모양 유지</a:t>
            </a:r>
            <a:endParaRPr lang="en-US" sz="1400" dirty="0"/>
          </a:p>
        </p:txBody>
      </p:sp>
      <p:sp>
        <p:nvSpPr>
          <p:cNvPr id="13" name="+ 두 번 (0.4) frame"/>
          <p:cNvSpPr/>
          <p:nvPr/>
        </p:nvSpPr>
        <p:spPr>
          <a:xfrm>
            <a:off x="8010144" y="1540764"/>
            <a:ext cx="3593592" cy="2176272"/>
          </a:xfrm>
          <a:prstGeom prst="rect">
            <a:avLst/>
          </a:prstGeom>
          <a:solidFill>
            <a:srgbClr val="FFFFFF"/>
          </a:solidFill>
          <a:ln w="12700">
            <a:solidFill>
              <a:srgbClr val="DFE3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14" name="+ 두 번 (0.4)" descr="+ 두 번 (0.4)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1577340"/>
            <a:ext cx="3520440" cy="2103120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8046720" y="4206240"/>
            <a:ext cx="3520440" cy="457200"/>
          </a:xfrm>
          <a:prstGeom prst="roundRect">
            <a:avLst>
              <a:gd name="adj" fmla="val 50000"/>
            </a:avLst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8046720" y="420624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+ 두 번 (0.4)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8046720" y="475488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C2230"/>
                </a:solidFill>
              </a:rPr>
              <a:t>선 약 0.85mm — 얼굴이 뭉개짐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548640" y="5440680"/>
            <a:ext cx="11064240" cy="548640"/>
          </a:xfrm>
          <a:prstGeom prst="roundRect">
            <a:avLst>
              <a:gd name="adj" fmla="val 13333"/>
            </a:avLst>
          </a:prstGeom>
          <a:solidFill>
            <a:srgbClr val="E6F6F0"/>
          </a:solidFill>
          <a:ln w="12700">
            <a:solidFill>
              <a:srgbClr val="E6F6F0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731520" y="544068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6B4F"/>
                </a:solidFill>
              </a:rPr>
              <a:t>정답은 하나가 아니에요. 모양과 출력 사이에서 알맞은 굵기를 고르는 것이 이 활동의 핵심입니다.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두께 조절의 원리와 팁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230"/>
                </a:solidFill>
              </a:rPr>
              <a:t>원래 선</a:t>
            </a:r>
            <a:endParaRPr lang="en-US" sz="1500" dirty="0"/>
          </a:p>
        </p:txBody>
      </p:sp>
      <p:sp>
        <p:nvSpPr>
          <p:cNvPr id="4" name="thin line"/>
          <p:cNvSpPr/>
          <p:nvPr/>
        </p:nvSpPr>
        <p:spPr>
          <a:xfrm>
            <a:off x="548640" y="1874520"/>
            <a:ext cx="4937760" cy="109728"/>
          </a:xfrm>
          <a:prstGeom prst="rect">
            <a:avLst/>
          </a:prstGeom>
          <a:solidFill>
            <a:srgbClr val="5D5D5D"/>
          </a:solidFill>
          <a:ln w="12700">
            <a:solidFill>
              <a:srgbClr val="5D5D5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3774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230"/>
                </a:solidFill>
              </a:rPr>
              <a:t>+ 0.2 한 번</a:t>
            </a:r>
            <a:endParaRPr lang="en-US" sz="1500" dirty="0"/>
          </a:p>
        </p:txBody>
      </p:sp>
      <p:sp>
        <p:nvSpPr>
          <p:cNvPr id="6" name="grown area"/>
          <p:cNvSpPr/>
          <p:nvPr/>
        </p:nvSpPr>
        <p:spPr>
          <a:xfrm>
            <a:off x="548640" y="2834640"/>
            <a:ext cx="4937760" cy="822960"/>
          </a:xfrm>
          <a:prstGeom prst="rect">
            <a:avLst/>
          </a:prstGeom>
          <a:solidFill>
            <a:srgbClr val="B9C2D0"/>
          </a:solidFill>
          <a:ln w="12700">
            <a:solidFill>
              <a:srgbClr val="B9C2D0"/>
            </a:solidFill>
            <a:prstDash val="solid"/>
          </a:ln>
        </p:spPr>
      </p:sp>
      <p:sp>
        <p:nvSpPr>
          <p:cNvPr id="7" name="thin line 2"/>
          <p:cNvSpPr/>
          <p:nvPr/>
        </p:nvSpPr>
        <p:spPr>
          <a:xfrm>
            <a:off x="548640" y="3191256"/>
            <a:ext cx="4937760" cy="109728"/>
          </a:xfrm>
          <a:prstGeom prst="rect">
            <a:avLst/>
          </a:prstGeom>
          <a:solidFill>
            <a:srgbClr val="5D5D5D"/>
          </a:solidFill>
          <a:ln w="12700">
            <a:solidFill>
              <a:srgbClr val="5D5D5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623560" y="27889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2A2A"/>
                </a:solidFill>
              </a:rPr>
              <a:t>0.2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623560" y="331012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2A2A"/>
                </a:solidFill>
              </a:rPr>
              <a:t>0.2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84048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D6678"/>
                </a:solidFill>
              </a:rPr>
              <a:t>양쪽으로 0.2mm씩 → 선 폭은 0.4mm 늘어나요</a:t>
            </a:r>
            <a:endParaRPr lang="en-US" sz="1500" dirty="0"/>
          </a:p>
        </p:txBody>
      </p:sp>
      <p:sp>
        <p:nvSpPr>
          <p:cNvPr id="11" name="num 1"/>
          <p:cNvSpPr/>
          <p:nvPr/>
        </p:nvSpPr>
        <p:spPr>
          <a:xfrm>
            <a:off x="6675120" y="1344168"/>
            <a:ext cx="347472" cy="347472"/>
          </a:xfrm>
          <a:prstGeom prst="ellipse">
            <a:avLst/>
          </a:prstGeom>
          <a:solidFill>
            <a:srgbClr val="7048E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675120" y="1344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178040" y="1325880"/>
            <a:ext cx="452628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C2230"/>
                </a:solidFill>
              </a:rPr>
              <a:t>수염·눈처럼 아주 작은 부분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D6678"/>
                </a:solidFill>
              </a:rPr>
              <a:t>선택해서 Delete로 지우면 뭉개짐이 줄어요</a:t>
            </a:r>
            <a:endParaRPr lang="en-US" sz="1500" dirty="0"/>
          </a:p>
        </p:txBody>
      </p:sp>
      <p:sp>
        <p:nvSpPr>
          <p:cNvPr id="14" name="num 2"/>
          <p:cNvSpPr/>
          <p:nvPr/>
        </p:nvSpPr>
        <p:spPr>
          <a:xfrm>
            <a:off x="6675120" y="2395728"/>
            <a:ext cx="347472" cy="347472"/>
          </a:xfrm>
          <a:prstGeom prst="ellipse">
            <a:avLst/>
          </a:prstGeom>
          <a:solidFill>
            <a:srgbClr val="7048E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675120" y="23957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7178040" y="2377440"/>
            <a:ext cx="452628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C2230"/>
                </a:solidFill>
              </a:rPr>
              <a:t>이 도형만 / 이 색 전체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D6678"/>
                </a:solidFill>
              </a:rPr>
              <a:t>범위를 바꿔 필요한 선만 굵게</a:t>
            </a:r>
            <a:endParaRPr lang="en-US" sz="1500" dirty="0"/>
          </a:p>
        </p:txBody>
      </p:sp>
      <p:sp>
        <p:nvSpPr>
          <p:cNvPr id="17" name="num 3"/>
          <p:cNvSpPr/>
          <p:nvPr/>
        </p:nvSpPr>
        <p:spPr>
          <a:xfrm>
            <a:off x="6675120" y="3447288"/>
            <a:ext cx="347472" cy="347472"/>
          </a:xfrm>
          <a:prstGeom prst="ellipse">
            <a:avLst/>
          </a:prstGeom>
          <a:solidFill>
            <a:srgbClr val="7048E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675120" y="34472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178040" y="3429000"/>
            <a:ext cx="452628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C2230"/>
                </a:solidFill>
              </a:rPr>
              <a:t>가는 부분 보정 (0.8mm) 버튼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D6678"/>
                </a:solidFill>
              </a:rPr>
              <a:t>경고 옆 버튼 — 가는 곳만 자동으로</a:t>
            </a:r>
            <a:endParaRPr lang="en-US" sz="1500" dirty="0"/>
          </a:p>
        </p:txBody>
      </p:sp>
      <p:sp>
        <p:nvSpPr>
          <p:cNvPr id="20" name="num 4"/>
          <p:cNvSpPr/>
          <p:nvPr/>
        </p:nvSpPr>
        <p:spPr>
          <a:xfrm>
            <a:off x="6675120" y="4498848"/>
            <a:ext cx="347472" cy="347472"/>
          </a:xfrm>
          <a:prstGeom prst="ellipse">
            <a:avLst/>
          </a:prstGeom>
          <a:solidFill>
            <a:srgbClr val="7048E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675120" y="44988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178040" y="4480560"/>
            <a:ext cx="452628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C2230"/>
                </a:solidFill>
              </a:rPr>
              <a:t>더 크게 만들기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D6678"/>
                </a:solidFill>
              </a:rPr>
              <a:t>2u 키캡이면 그림을 더 크게 올릴 수 있어요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548640" y="5349240"/>
            <a:ext cx="11064240" cy="594360"/>
          </a:xfrm>
          <a:prstGeom prst="roundRect">
            <a:avLst>
              <a:gd name="adj" fmla="val 12308"/>
            </a:avLst>
          </a:prstGeom>
          <a:solidFill>
            <a:srgbClr val="EFEBFC"/>
          </a:solidFill>
          <a:ln w="12700">
            <a:solidFill>
              <a:srgbClr val="EFEBF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31520" y="534924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2FA8"/>
                </a:solidFill>
              </a:rPr>
              <a:t>두께는 그림 크기와 상관없는 실제 mm 값입니다. 너비를 바꾸기 전에 굵기를 정하면 헷갈리지 않아요.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자주 하는 실수와 해결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73152" cy="1005840"/>
          </a:xfrm>
          <a:prstGeom prst="rect">
            <a:avLst/>
          </a:prstGeom>
          <a:solidFill>
            <a:srgbClr val="C92A2A"/>
          </a:solidFill>
          <a:ln w="12700">
            <a:solidFill>
              <a:srgbClr val="C92A2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28016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230"/>
                </a:solidFill>
              </a:rPr>
              <a:t>+ 를 너무 여러 번 눌렀어요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251960" y="128016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678"/>
                </a:solidFill>
              </a:rPr>
              <a:t>얼굴 부분이 하나로 뭉개짐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589520" y="1664208"/>
            <a:ext cx="201168" cy="274320"/>
          </a:xfrm>
          <a:prstGeom prst="chevron">
            <a:avLst/>
          </a:prstGeom>
          <a:solidFill>
            <a:srgbClr val="B7C0D1"/>
          </a:solidFill>
          <a:ln w="12700">
            <a:solidFill>
              <a:srgbClr val="B7C0D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909560" y="1280160"/>
            <a:ext cx="3703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2A2A"/>
                </a:solidFill>
              </a:rPr>
              <a:t>− 로 줄이거나 Ctrl+Z로 처음부터 다시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468880"/>
            <a:ext cx="73152" cy="1005840"/>
          </a:xfrm>
          <a:prstGeom prst="rect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246888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230"/>
                </a:solidFill>
              </a:rPr>
              <a:t>범위를 "이 도형만"으로 둠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251960" y="246888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678"/>
                </a:solidFill>
              </a:rPr>
              <a:t>선택한 한 조각만 굵어지고 나머지는 그대로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589520" y="2852928"/>
            <a:ext cx="201168" cy="274320"/>
          </a:xfrm>
          <a:prstGeom prst="chevron">
            <a:avLst/>
          </a:prstGeom>
          <a:solidFill>
            <a:srgbClr val="B7C0D1"/>
          </a:solidFill>
          <a:ln w="12700">
            <a:solidFill>
              <a:srgbClr val="B7C0D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909560" y="2468880"/>
            <a:ext cx="3703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590C"/>
                </a:solidFill>
              </a:rPr>
              <a:t>범위를 "이 색 전체"로 바꿔 한꺼번에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657600"/>
            <a:ext cx="73152" cy="1005840"/>
          </a:xfrm>
          <a:prstGeom prst="rect">
            <a:avLst/>
          </a:prstGeom>
          <a:solidFill>
            <a:srgbClr val="7048E8"/>
          </a:solidFill>
          <a:ln w="12700">
            <a:solidFill>
              <a:srgbClr val="7048E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365760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230"/>
                </a:solidFill>
              </a:rPr>
              <a:t>빨간 표시가 안 없어져요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251960" y="365760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678"/>
                </a:solidFill>
              </a:rPr>
              <a:t>0.8mm를 겨우 넘겨도 다른 가는 곳이 남음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589520" y="4041648"/>
            <a:ext cx="201168" cy="274320"/>
          </a:xfrm>
          <a:prstGeom prst="chevron">
            <a:avLst/>
          </a:prstGeom>
          <a:solidFill>
            <a:srgbClr val="B7C0D1"/>
          </a:solidFill>
          <a:ln w="12700">
            <a:solidFill>
              <a:srgbClr val="B7C0D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909560" y="3657600"/>
            <a:ext cx="3703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048E8"/>
                </a:solidFill>
              </a:rPr>
              <a:t>가는 부분 보정 (0.8mm) 버튼으로 나머지 자동 보정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4846320"/>
            <a:ext cx="73152" cy="1005840"/>
          </a:xfrm>
          <a:prstGeom prst="rect">
            <a:avLst/>
          </a:prstGeom>
          <a:solidFill>
            <a:srgbClr val="0CA678"/>
          </a:solidFill>
          <a:ln w="12700">
            <a:solidFill>
              <a:srgbClr val="0CA67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484632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230"/>
                </a:solidFill>
              </a:rPr>
              <a:t>굵게 했는데 3D에 안 보여요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4251960" y="484632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678"/>
                </a:solidFill>
              </a:rPr>
              <a:t>아직 3D를 새로 불러오지 않음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589520" y="5230368"/>
            <a:ext cx="201168" cy="274320"/>
          </a:xfrm>
          <a:prstGeom prst="chevron">
            <a:avLst/>
          </a:prstGeom>
          <a:solidFill>
            <a:srgbClr val="B7C0D1"/>
          </a:solidFill>
          <a:ln w="12700">
            <a:solidFill>
              <a:srgbClr val="B7C0D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909560" y="4846320"/>
            <a:ext cx="3703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A678"/>
                </a:solidFill>
              </a:rPr>
              <a:t>3D 탭을 다시 누르거나 화면을 돌려 보기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작업 저장해 두기</a:t>
            </a:r>
            <a:endParaRPr lang="en-US" sz="3000" dirty="0"/>
          </a:p>
        </p:txBody>
      </p:sp>
      <p:sp>
        <p:nvSpPr>
          <p:cNvPr id="3" name="num 1"/>
          <p:cNvSpPr/>
          <p:nvPr/>
        </p:nvSpPr>
        <p:spPr>
          <a:xfrm>
            <a:off x="548640" y="1389888"/>
            <a:ext cx="347472" cy="347472"/>
          </a:xfrm>
          <a:prstGeom prst="ellipse">
            <a:avLst/>
          </a:prstGeom>
          <a:solidFill>
            <a:srgbClr val="49505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3898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371600"/>
            <a:ext cx="1046988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C2230"/>
                </a:solidFill>
              </a:rPr>
              <a:t>프로젝트 → 저장 (.svgforge)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D6678"/>
                </a:solidFill>
              </a:rPr>
              <a:t>그림·편집 목록·키캡 설정이 모두 그대로 저장됨</a:t>
            </a:r>
            <a:endParaRPr lang="en-US" sz="1500" dirty="0"/>
          </a:p>
        </p:txBody>
      </p:sp>
      <p:sp>
        <p:nvSpPr>
          <p:cNvPr id="6" name="num 2"/>
          <p:cNvSpPr/>
          <p:nvPr/>
        </p:nvSpPr>
        <p:spPr>
          <a:xfrm>
            <a:off x="548640" y="2350008"/>
            <a:ext cx="347472" cy="347472"/>
          </a:xfrm>
          <a:prstGeom prst="ellipse">
            <a:avLst/>
          </a:prstGeom>
          <a:solidFill>
            <a:srgbClr val="49505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3500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2331720"/>
            <a:ext cx="1046988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C2230"/>
                </a:solidFill>
              </a:rPr>
              <a:t>자동 저장도 함께 동작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D6678"/>
                </a:solidFill>
              </a:rPr>
              <a:t>깜빡하고 안 눌러도 브라우저에 최근 상태가 남음</a:t>
            </a:r>
            <a:endParaRPr lang="en-US" sz="1500" dirty="0"/>
          </a:p>
        </p:txBody>
      </p:sp>
      <p:sp>
        <p:nvSpPr>
          <p:cNvPr id="9" name="num 3"/>
          <p:cNvSpPr/>
          <p:nvPr/>
        </p:nvSpPr>
        <p:spPr>
          <a:xfrm>
            <a:off x="548640" y="3310128"/>
            <a:ext cx="347472" cy="347472"/>
          </a:xfrm>
          <a:prstGeom prst="ellipse">
            <a:avLst/>
          </a:prstGeom>
          <a:solidFill>
            <a:srgbClr val="49505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3101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3291840"/>
            <a:ext cx="1046988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C2230"/>
                </a:solidFill>
              </a:rPr>
              <a:t>프로젝트 → 열기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D6678"/>
                </a:solidFill>
              </a:rPr>
              <a:t>다음 시간에 이어서 바로 수정 가능</a:t>
            </a:r>
            <a:endParaRPr lang="en-US" sz="1500" dirty="0"/>
          </a:p>
        </p:txBody>
      </p:sp>
      <p:sp>
        <p:nvSpPr>
          <p:cNvPr id="12" name="num 4"/>
          <p:cNvSpPr/>
          <p:nvPr/>
        </p:nvSpPr>
        <p:spPr>
          <a:xfrm>
            <a:off x="548640" y="4270248"/>
            <a:ext cx="347472" cy="347472"/>
          </a:xfrm>
          <a:prstGeom prst="ellipse">
            <a:avLst/>
          </a:prstGeom>
          <a:solidFill>
            <a:srgbClr val="49505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42702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4251960"/>
            <a:ext cx="1046988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C2230"/>
                </a:solidFill>
              </a:rPr>
              <a:t>3MF·STL은 "출력용"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D6678"/>
                </a:solidFill>
              </a:rPr>
              <a:t>다시 열어 고칠 수는 없음 — 그래서 프로젝트 저장이 따로 필요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5440680"/>
            <a:ext cx="11064240" cy="548640"/>
          </a:xfrm>
          <a:prstGeom prst="roundRect">
            <a:avLst>
              <a:gd name="adj" fmla="val 13333"/>
            </a:avLst>
          </a:prstGeom>
          <a:solidFill>
            <a:srgbClr val="F3F4F7"/>
          </a:solidFill>
          <a:ln w="12700">
            <a:solidFill>
              <a:srgbClr val="F3F4F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544068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95057"/>
                </a:solidFill>
              </a:rPr>
              <a:t>수업이 한 번에 끝나지 않을 때는 활동 중간에 꼭 한 번 프로젝트로 저장하게 하세요.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5. 3D로 확인하기</a:t>
            </a:r>
            <a:endParaRPr lang="en-US" sz="3000" dirty="0"/>
          </a:p>
        </p:txBody>
      </p:sp>
      <p:sp>
        <p:nvSpPr>
          <p:cNvPr id="3" name="굵게 하기 전 frame"/>
          <p:cNvSpPr/>
          <p:nvPr/>
        </p:nvSpPr>
        <p:spPr>
          <a:xfrm>
            <a:off x="512064" y="1246526"/>
            <a:ext cx="3639312" cy="3633427"/>
          </a:xfrm>
          <a:prstGeom prst="rect">
            <a:avLst/>
          </a:prstGeom>
          <a:solidFill>
            <a:srgbClr val="FFFFFF"/>
          </a:solidFill>
          <a:ln w="12700">
            <a:solidFill>
              <a:srgbClr val="DFE3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굵게 하기 전" descr="굵게 하기 전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3102"/>
            <a:ext cx="3566160" cy="3560275"/>
          </a:xfrm>
          <a:prstGeom prst="rect">
            <a:avLst/>
          </a:prstGeom>
        </p:spPr>
      </p:pic>
      <p:sp>
        <p:nvSpPr>
          <p:cNvPr id="5" name="굵게 한 뒤 frame"/>
          <p:cNvSpPr/>
          <p:nvPr/>
        </p:nvSpPr>
        <p:spPr>
          <a:xfrm>
            <a:off x="4398264" y="1246526"/>
            <a:ext cx="3639312" cy="3633427"/>
          </a:xfrm>
          <a:prstGeom prst="rect">
            <a:avLst/>
          </a:prstGeom>
          <a:solidFill>
            <a:srgbClr val="FFFFFF"/>
          </a:solidFill>
          <a:ln w="12700">
            <a:solidFill>
              <a:srgbClr val="DFE3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6" name="굵게 한 뒤" descr="굵게 한 뒤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1283102"/>
            <a:ext cx="3566160" cy="356027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8640" y="49834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2A2A"/>
                </a:solidFill>
              </a:rPr>
              <a:t>굵게 하기 전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4434840" y="49834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CA678"/>
                </a:solidFill>
              </a:rPr>
              <a:t>+ 한 번 뒤</a:t>
            </a:r>
            <a:endParaRPr lang="en-US" sz="1500" dirty="0"/>
          </a:p>
        </p:txBody>
      </p:sp>
      <p:sp>
        <p:nvSpPr>
          <p:cNvPr id="9" name="num 1"/>
          <p:cNvSpPr/>
          <p:nvPr/>
        </p:nvSpPr>
        <p:spPr>
          <a:xfrm>
            <a:off x="8321040" y="1344168"/>
            <a:ext cx="347472" cy="347472"/>
          </a:xfrm>
          <a:prstGeom prst="ellipse">
            <a:avLst/>
          </a:prstGeom>
          <a:solidFill>
            <a:srgbClr val="0CA67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8321040" y="1344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8823960" y="1325880"/>
            <a:ext cx="28803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C2230"/>
                </a:solidFill>
              </a:rPr>
              <a:t>뷰 큐브의 "위"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D6678"/>
                </a:solidFill>
              </a:rPr>
              <a:t>위에서 본 모양 확인</a:t>
            </a:r>
            <a:endParaRPr lang="en-US" sz="1500" dirty="0"/>
          </a:p>
        </p:txBody>
      </p:sp>
      <p:sp>
        <p:nvSpPr>
          <p:cNvPr id="12" name="num 2"/>
          <p:cNvSpPr/>
          <p:nvPr/>
        </p:nvSpPr>
        <p:spPr>
          <a:xfrm>
            <a:off x="8321040" y="2258568"/>
            <a:ext cx="347472" cy="347472"/>
          </a:xfrm>
          <a:prstGeom prst="ellipse">
            <a:avLst/>
          </a:prstGeom>
          <a:solidFill>
            <a:srgbClr val="0CA67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8321040" y="22585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8823960" y="2240280"/>
            <a:ext cx="28803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C2230"/>
                </a:solidFill>
              </a:rPr>
              <a:t>숫자 라벨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D6678"/>
                </a:solidFill>
              </a:rPr>
              <a:t>+0.5 = 윗면보다 0.5mm 볼록</a:t>
            </a:r>
            <a:endParaRPr lang="en-US" sz="1500" dirty="0"/>
          </a:p>
        </p:txBody>
      </p:sp>
      <p:sp>
        <p:nvSpPr>
          <p:cNvPr id="15" name="num 3"/>
          <p:cNvSpPr/>
          <p:nvPr/>
        </p:nvSpPr>
        <p:spPr>
          <a:xfrm>
            <a:off x="8321040" y="3172968"/>
            <a:ext cx="347472" cy="347472"/>
          </a:xfrm>
          <a:prstGeom prst="ellipse">
            <a:avLst/>
          </a:prstGeom>
          <a:solidFill>
            <a:srgbClr val="0CA67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8321040" y="31729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8823960" y="3154680"/>
            <a:ext cx="28803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C2230"/>
                </a:solidFill>
              </a:rPr>
              <a:t>윗모서리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D6678"/>
                </a:solidFill>
              </a:rPr>
              <a:t>모깎기 0.8mm (기본)</a:t>
            </a:r>
            <a:endParaRPr lang="en-US" sz="1500" dirty="0"/>
          </a:p>
        </p:txBody>
      </p:sp>
      <p:sp>
        <p:nvSpPr>
          <p:cNvPr id="18" name="num 4"/>
          <p:cNvSpPr/>
          <p:nvPr/>
        </p:nvSpPr>
        <p:spPr>
          <a:xfrm>
            <a:off x="8321040" y="4087368"/>
            <a:ext cx="347472" cy="347472"/>
          </a:xfrm>
          <a:prstGeom prst="ellipse">
            <a:avLst/>
          </a:prstGeom>
          <a:solidFill>
            <a:srgbClr val="0CA67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8321040" y="40873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0" name="Text 16"/>
          <p:cNvSpPr txBox="1"/>
          <p:nvPr/>
        </p:nvSpPr>
        <p:spPr>
          <a:xfrm>
            <a:off x="8823960" y="4069080"/>
            <a:ext cx="28803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C2230"/>
                </a:solidFill>
              </a:rPr>
              <a:t>스템 공차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D6678"/>
                </a:solidFill>
              </a:rPr>
              <a:t>헐거우면 −, 빡빡하면 +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활동 1 정리</a:t>
            </a:r>
            <a:endParaRPr lang="en-US" sz="3000" dirty="0"/>
          </a:p>
        </p:txBody>
      </p:sp>
      <p:sp>
        <p:nvSpPr>
          <p:cNvPr id="3" name="완성된 물개 키캡 frame"/>
          <p:cNvSpPr/>
          <p:nvPr/>
        </p:nvSpPr>
        <p:spPr>
          <a:xfrm>
            <a:off x="512064" y="1246225"/>
            <a:ext cx="3273552" cy="3268271"/>
          </a:xfrm>
          <a:prstGeom prst="rect">
            <a:avLst/>
          </a:prstGeom>
          <a:solidFill>
            <a:srgbClr val="FFFFFF"/>
          </a:solidFill>
          <a:ln w="12700">
            <a:solidFill>
              <a:srgbClr val="DFE3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완성된 물개 키캡" descr="완성된 물개 키캡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2801"/>
            <a:ext cx="3200400" cy="3195119"/>
          </a:xfrm>
          <a:prstGeom prst="rect">
            <a:avLst/>
          </a:prstGeom>
        </p:spPr>
      </p:pic>
      <p:sp>
        <p:nvSpPr>
          <p:cNvPr id="5" name="num 1"/>
          <p:cNvSpPr/>
          <p:nvPr/>
        </p:nvSpPr>
        <p:spPr>
          <a:xfrm>
            <a:off x="4114800" y="1344168"/>
            <a:ext cx="347472" cy="347472"/>
          </a:xfrm>
          <a:prstGeom prst="ellipse">
            <a:avLst/>
          </a:prstGeom>
          <a:solidFill>
            <a:srgbClr val="7048E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114800" y="1344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4617720" y="1325880"/>
            <a:ext cx="699516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C2230"/>
                </a:solidFill>
              </a:rPr>
              <a:t>그림을 열고 색·구멍을 정리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D6678"/>
                </a:solidFill>
              </a:rPr>
              <a:t>배경 제거는 자동, 구멍·얼룩은 손으로</a:t>
            </a:r>
            <a:endParaRPr lang="en-US" sz="1500" dirty="0"/>
          </a:p>
        </p:txBody>
      </p:sp>
      <p:sp>
        <p:nvSpPr>
          <p:cNvPr id="8" name="num 2"/>
          <p:cNvSpPr/>
          <p:nvPr/>
        </p:nvSpPr>
        <p:spPr>
          <a:xfrm>
            <a:off x="4114800" y="2304288"/>
            <a:ext cx="347472" cy="347472"/>
          </a:xfrm>
          <a:prstGeom prst="ellipse">
            <a:avLst/>
          </a:prstGeom>
          <a:solidFill>
            <a:srgbClr val="7048E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114800" y="23042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4617720" y="2286000"/>
            <a:ext cx="699516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C2230"/>
                </a:solidFill>
              </a:rPr>
              <a:t>키캡 모드 → 크기가 윗면(10.9mm)에 맞춰짐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D6678"/>
                </a:solidFill>
              </a:rPr>
              <a:t>그만큼 선도 가늘어짐을 이해</a:t>
            </a:r>
            <a:endParaRPr lang="en-US" sz="1500" dirty="0"/>
          </a:p>
        </p:txBody>
      </p:sp>
      <p:sp>
        <p:nvSpPr>
          <p:cNvPr id="11" name="num 3"/>
          <p:cNvSpPr/>
          <p:nvPr/>
        </p:nvSpPr>
        <p:spPr>
          <a:xfrm>
            <a:off x="4114800" y="3264408"/>
            <a:ext cx="347472" cy="347472"/>
          </a:xfrm>
          <a:prstGeom prst="ellipse">
            <a:avLst/>
          </a:prstGeom>
          <a:solidFill>
            <a:srgbClr val="7048E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114800" y="32644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4617720" y="3246120"/>
            <a:ext cx="699516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C2230"/>
                </a:solidFill>
              </a:rPr>
              <a:t>두께 + 로 선을 굵게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D6678"/>
                </a:solidFill>
              </a:rPr>
              <a:t>"이 색 전체" 범위, 0.2mm씩 양쪽으로</a:t>
            </a:r>
            <a:endParaRPr lang="en-US" sz="1500" dirty="0"/>
          </a:p>
        </p:txBody>
      </p:sp>
      <p:sp>
        <p:nvSpPr>
          <p:cNvPr id="14" name="num 4"/>
          <p:cNvSpPr/>
          <p:nvPr/>
        </p:nvSpPr>
        <p:spPr>
          <a:xfrm>
            <a:off x="4114800" y="4224528"/>
            <a:ext cx="347472" cy="347472"/>
          </a:xfrm>
          <a:prstGeom prst="ellipse">
            <a:avLst/>
          </a:prstGeom>
          <a:solidFill>
            <a:srgbClr val="7048E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114800" y="42245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4617720" y="4206240"/>
            <a:ext cx="699516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C2230"/>
                </a:solidFill>
              </a:rPr>
              <a:t>빨간 표시가 없어지면 완성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D6678"/>
                </a:solidFill>
              </a:rPr>
              <a:t>필요하면 가는 부분 보정 버튼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4114800" y="5486400"/>
            <a:ext cx="7498080" cy="502920"/>
          </a:xfrm>
          <a:prstGeom prst="roundRect">
            <a:avLst>
              <a:gd name="adj" fmla="val 14545"/>
            </a:avLst>
          </a:prstGeom>
          <a:solidFill>
            <a:srgbClr val="E8F0FD"/>
          </a:solidFill>
          <a:ln w="12700">
            <a:solidFill>
              <a:srgbClr val="E8F0FD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297680" y="548640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3557"/>
                </a:solidFill>
              </a:rPr>
              <a:t>다음은 글자로 같은 과정을 해 봅니다 — 원리는 똑같아요.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활동 2  "독도" 글자 키캡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7472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9D4EA"/>
                </a:solidFill>
              </a:rPr>
              <a:t>텍스트 입력 → 키캡 모드 → 최소 획 폭 → 글자 색 나누기</a:t>
            </a:r>
            <a:endParaRPr lang="en-US" sz="1800" dirty="0"/>
          </a:p>
        </p:txBody>
      </p:sp>
      <p:pic>
        <p:nvPicPr>
          <p:cNvPr id="4" name="dokdo keycap" descr="독도 키캡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0" y="3931920"/>
            <a:ext cx="2468880" cy="24688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1. "독도" 입력하기</a:t>
            </a:r>
            <a:endParaRPr lang="en-US" sz="3000" dirty="0"/>
          </a:p>
        </p:txBody>
      </p:sp>
      <p:sp>
        <p:nvSpPr>
          <p:cNvPr id="3" name="텍스트 모드 frame"/>
          <p:cNvSpPr/>
          <p:nvPr/>
        </p:nvSpPr>
        <p:spPr>
          <a:xfrm>
            <a:off x="512064" y="1414928"/>
            <a:ext cx="7296912" cy="3845263"/>
          </a:xfrm>
          <a:prstGeom prst="rect">
            <a:avLst/>
          </a:prstGeom>
          <a:solidFill>
            <a:srgbClr val="FFFFFF"/>
          </a:solidFill>
          <a:ln w="12700">
            <a:solidFill>
              <a:srgbClr val="DFE3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텍스트 모드" descr="텍스트 모드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51504"/>
            <a:ext cx="7223760" cy="3772111"/>
          </a:xfrm>
          <a:prstGeom prst="rect">
            <a:avLst/>
          </a:prstGeom>
        </p:spPr>
      </p:pic>
      <p:sp>
        <p:nvSpPr>
          <p:cNvPr id="5" name="num 1"/>
          <p:cNvSpPr/>
          <p:nvPr/>
        </p:nvSpPr>
        <p:spPr>
          <a:xfrm>
            <a:off x="8138160" y="1298448"/>
            <a:ext cx="347472" cy="347472"/>
          </a:xfrm>
          <a:prstGeom prst="ellipse">
            <a:avLst/>
          </a:prstGeom>
          <a:solidFill>
            <a:srgbClr val="1D5FD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138160" y="12984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641080" y="1280160"/>
            <a:ext cx="306324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C2230"/>
                </a:solidFill>
              </a:rPr>
              <a:t>위쪽 [텍스트] 탭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D6678"/>
                </a:solidFill>
              </a:rPr>
              <a:t>이미지 대신 글자로 만들기</a:t>
            </a:r>
            <a:endParaRPr lang="en-US" sz="1500" dirty="0"/>
          </a:p>
        </p:txBody>
      </p:sp>
      <p:sp>
        <p:nvSpPr>
          <p:cNvPr id="8" name="num 2"/>
          <p:cNvSpPr/>
          <p:nvPr/>
        </p:nvSpPr>
        <p:spPr>
          <a:xfrm>
            <a:off x="8138160" y="2258568"/>
            <a:ext cx="347472" cy="347472"/>
          </a:xfrm>
          <a:prstGeom prst="ellipse">
            <a:avLst/>
          </a:prstGeom>
          <a:solidFill>
            <a:srgbClr val="1D5FD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138160" y="22585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641080" y="2240280"/>
            <a:ext cx="306324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C2230"/>
                </a:solidFill>
              </a:rPr>
              <a:t>글자 칸에 독도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D6678"/>
                </a:solidFill>
              </a:rPr>
              <a:t>여러 줄도 가능</a:t>
            </a:r>
            <a:endParaRPr lang="en-US" sz="1500" dirty="0"/>
          </a:p>
        </p:txBody>
      </p:sp>
      <p:sp>
        <p:nvSpPr>
          <p:cNvPr id="11" name="num 3"/>
          <p:cNvSpPr/>
          <p:nvPr/>
        </p:nvSpPr>
        <p:spPr>
          <a:xfrm>
            <a:off x="8138160" y="3218688"/>
            <a:ext cx="347472" cy="347472"/>
          </a:xfrm>
          <a:prstGeom prst="ellipse">
            <a:avLst/>
          </a:prstGeom>
          <a:solidFill>
            <a:srgbClr val="1D5FD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138160" y="32186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8641080" y="3200400"/>
            <a:ext cx="306324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C2230"/>
                </a:solidFill>
              </a:rPr>
              <a:t>[한] 폰트 고르기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D6678"/>
                </a:solidFill>
              </a:rPr>
              <a:t>파란 [한] = 한글이 있는 폰트</a:t>
            </a:r>
            <a:endParaRPr lang="en-US" sz="1500" dirty="0"/>
          </a:p>
        </p:txBody>
      </p:sp>
      <p:sp>
        <p:nvSpPr>
          <p:cNvPr id="14" name="num 4"/>
          <p:cNvSpPr/>
          <p:nvPr/>
        </p:nvSpPr>
        <p:spPr>
          <a:xfrm>
            <a:off x="8138160" y="4178808"/>
            <a:ext cx="347472" cy="347472"/>
          </a:xfrm>
          <a:prstGeom prst="ellipse">
            <a:avLst/>
          </a:prstGeom>
          <a:solidFill>
            <a:srgbClr val="1D5FD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138160" y="41788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8641080" y="4160520"/>
            <a:ext cx="306324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C2230"/>
                </a:solidFill>
              </a:rPr>
              <a:t>굵은 폰트가 유리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D6678"/>
                </a:solidFill>
              </a:rPr>
              <a:t>획이 굵을수록 키캡에 잘 나와요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548640" y="5623560"/>
            <a:ext cx="7223760" cy="502920"/>
          </a:xfrm>
          <a:prstGeom prst="roundRect">
            <a:avLst>
              <a:gd name="adj" fmla="val 14545"/>
            </a:avLst>
          </a:prstGeom>
          <a:solidFill>
            <a:srgbClr val="E8F0FD"/>
          </a:solidFill>
          <a:ln w="12700">
            <a:solidFill>
              <a:srgbClr val="E8F0FD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31520" y="562356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3557"/>
                </a:solidFill>
              </a:rPr>
              <a:t>크롬·엣지에서는 "설치된 폰트…"로 내 컴퓨터 폰트도 쓸 수 있어요.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어떤 폰트를 고를까?</a:t>
            </a:r>
            <a:endParaRPr lang="en-US" sz="3000" dirty="0"/>
          </a:p>
        </p:txBody>
      </p:sp>
      <p:sp>
        <p:nvSpPr>
          <p:cNvPr id="3" name="num 1"/>
          <p:cNvSpPr/>
          <p:nvPr/>
        </p:nvSpPr>
        <p:spPr>
          <a:xfrm>
            <a:off x="548640" y="1389888"/>
            <a:ext cx="347472" cy="347472"/>
          </a:xfrm>
          <a:prstGeom prst="ellipse">
            <a:avLst/>
          </a:prstGeom>
          <a:solidFill>
            <a:srgbClr val="1D5FD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3898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371600"/>
            <a:ext cx="61722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C2230"/>
                </a:solidFill>
              </a:rPr>
              <a:t>[한] 표시가 있는 폰트만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D6678"/>
                </a:solidFill>
              </a:rPr>
              <a:t>한글 글자표가 없는 폰트는 "독도"가 빈칸으로 나옴</a:t>
            </a:r>
            <a:endParaRPr lang="en-US" sz="1500" dirty="0"/>
          </a:p>
        </p:txBody>
      </p:sp>
      <p:sp>
        <p:nvSpPr>
          <p:cNvPr id="6" name="num 2"/>
          <p:cNvSpPr/>
          <p:nvPr/>
        </p:nvSpPr>
        <p:spPr>
          <a:xfrm>
            <a:off x="548640" y="2395728"/>
            <a:ext cx="347472" cy="347472"/>
          </a:xfrm>
          <a:prstGeom prst="ellipse">
            <a:avLst/>
          </a:prstGeom>
          <a:solidFill>
            <a:srgbClr val="1D5FD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3957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2377440"/>
            <a:ext cx="61722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C2230"/>
                </a:solidFill>
              </a:rPr>
              <a:t>파란 글씨 = 설치 폰트 중 한글 지원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D6678"/>
                </a:solidFill>
              </a:rPr>
              <a:t>글자표를 직접 읽어 확인한 결과 (한 번 확인하면 기억)</a:t>
            </a:r>
            <a:endParaRPr lang="en-US" sz="1500" dirty="0"/>
          </a:p>
        </p:txBody>
      </p:sp>
      <p:sp>
        <p:nvSpPr>
          <p:cNvPr id="9" name="num 3"/>
          <p:cNvSpPr/>
          <p:nvPr/>
        </p:nvSpPr>
        <p:spPr>
          <a:xfrm>
            <a:off x="548640" y="3401568"/>
            <a:ext cx="347472" cy="347472"/>
          </a:xfrm>
          <a:prstGeom prst="ellipse">
            <a:avLst/>
          </a:prstGeom>
          <a:solidFill>
            <a:srgbClr val="1D5FD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4015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3383280"/>
            <a:ext cx="61722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C2230"/>
                </a:solidFill>
              </a:rPr>
              <a:t>굵은(Bold) 계열을 우선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D6678"/>
                </a:solidFill>
              </a:rPr>
              <a:t>얇은 폰트는 작게 줄이면 선이 더 쉽게 끊어짐</a:t>
            </a:r>
            <a:endParaRPr lang="en-US" sz="1500" dirty="0"/>
          </a:p>
        </p:txBody>
      </p:sp>
      <p:sp>
        <p:nvSpPr>
          <p:cNvPr id="12" name="num 4"/>
          <p:cNvSpPr/>
          <p:nvPr/>
        </p:nvSpPr>
        <p:spPr>
          <a:xfrm>
            <a:off x="548640" y="4407408"/>
            <a:ext cx="347472" cy="347472"/>
          </a:xfrm>
          <a:prstGeom prst="ellipse">
            <a:avLst/>
          </a:prstGeom>
          <a:solidFill>
            <a:srgbClr val="1D5FD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44074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4389120"/>
            <a:ext cx="61722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C2230"/>
                </a:solidFill>
              </a:rPr>
              <a:t>기본값: Noto Sans KR Bold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D6678"/>
                </a:solidFill>
              </a:rPr>
              <a:t>내려받기 없이 바로 쓸 수 있는 안전한 선택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5486400"/>
            <a:ext cx="6675120" cy="640080"/>
          </a:xfrm>
          <a:prstGeom prst="roundRect">
            <a:avLst>
              <a:gd name="adj" fmla="val 11429"/>
            </a:avLst>
          </a:prstGeom>
          <a:solidFill>
            <a:srgbClr val="E8F0FD"/>
          </a:solidFill>
          <a:ln w="12700">
            <a:solidFill>
              <a:srgbClr val="E8F0F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5486400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3557"/>
                </a:solidFill>
              </a:rPr>
              <a:t>크롬·엣지는 "설치된 폰트…" 권한을 허용하면 내 컴퓨터에 깔린 폰트도 목록에 나타나요.</a:t>
            </a:r>
            <a:endParaRPr lang="en-US" sz="1400" dirty="0"/>
          </a:p>
        </p:txBody>
      </p:sp>
      <p:sp>
        <p:nvSpPr>
          <p:cNvPr id="17" name="폰트 목록 중 [한] 표시 frame"/>
          <p:cNvSpPr/>
          <p:nvPr/>
        </p:nvSpPr>
        <p:spPr>
          <a:xfrm>
            <a:off x="7370064" y="1745574"/>
            <a:ext cx="4279392" cy="2269571"/>
          </a:xfrm>
          <a:prstGeom prst="rect">
            <a:avLst/>
          </a:prstGeom>
          <a:solidFill>
            <a:srgbClr val="FFFFFF"/>
          </a:solidFill>
          <a:ln w="12700">
            <a:solidFill>
              <a:srgbClr val="DFE3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18" name="폰트 목록 중 [한] 표시" descr="폰트 목록 중 [한] 표시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1782150"/>
            <a:ext cx="4206240" cy="2196419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2. 키캡 모드 + 최소 획 폭 0.8</a:t>
            </a:r>
            <a:endParaRPr lang="en-US" sz="3000" dirty="0"/>
          </a:p>
        </p:txBody>
      </p:sp>
      <p:sp>
        <p:nvSpPr>
          <p:cNvPr id="3" name="획이 가는 상태 frame"/>
          <p:cNvSpPr/>
          <p:nvPr/>
        </p:nvSpPr>
        <p:spPr>
          <a:xfrm>
            <a:off x="524463" y="1243584"/>
            <a:ext cx="5443315" cy="4187952"/>
          </a:xfrm>
          <a:prstGeom prst="rect">
            <a:avLst/>
          </a:prstGeom>
          <a:solidFill>
            <a:srgbClr val="FFFFFF"/>
          </a:solidFill>
          <a:ln w="12700">
            <a:solidFill>
              <a:srgbClr val="DFE3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획이 가는 상태" descr="획이 가는 상태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1039" y="1280160"/>
            <a:ext cx="5370163" cy="4114800"/>
          </a:xfrm>
          <a:prstGeom prst="rect">
            <a:avLst/>
          </a:prstGeom>
        </p:spPr>
      </p:pic>
      <p:sp>
        <p:nvSpPr>
          <p:cNvPr id="5" name="최소 획 폭 0.8 적용 frame"/>
          <p:cNvSpPr/>
          <p:nvPr/>
        </p:nvSpPr>
        <p:spPr>
          <a:xfrm>
            <a:off x="6227064" y="1252331"/>
            <a:ext cx="5468112" cy="2890298"/>
          </a:xfrm>
          <a:prstGeom prst="rect">
            <a:avLst/>
          </a:prstGeom>
          <a:solidFill>
            <a:srgbClr val="FFFFFF"/>
          </a:solidFill>
          <a:ln w="12700">
            <a:solidFill>
              <a:srgbClr val="DFE3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6" name="최소 획 폭 0.8 적용" descr="최소 획 폭 0.8 적용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288907"/>
            <a:ext cx="5394960" cy="281714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8640" y="553212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2A2A"/>
                </a:solidFill>
              </a:rPr>
              <a:t>키캡 모드 → 9mm로 줄면 획이 빨갛게</a:t>
            </a:r>
            <a:endParaRPr lang="en-US" sz="1500" dirty="0"/>
          </a:p>
        </p:txBody>
      </p:sp>
      <p:sp>
        <p:nvSpPr>
          <p:cNvPr id="8" name="num 1"/>
          <p:cNvSpPr/>
          <p:nvPr/>
        </p:nvSpPr>
        <p:spPr>
          <a:xfrm>
            <a:off x="6263640" y="4361688"/>
            <a:ext cx="347472" cy="347472"/>
          </a:xfrm>
          <a:prstGeom prst="ellipse">
            <a:avLst/>
          </a:prstGeom>
          <a:solidFill>
            <a:srgbClr val="1D5FD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263640" y="43616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6766560" y="4343400"/>
            <a:ext cx="489204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C2230"/>
                </a:solidFill>
              </a:rPr>
              <a:t>왼쪽 배치 → 최소 획 폭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D6678"/>
                </a:solidFill>
              </a:rPr>
              <a:t>0.8 입력 (또는 경고 옆 [획 폭 0.8mm로])</a:t>
            </a:r>
            <a:endParaRPr lang="en-US" sz="1500" dirty="0"/>
          </a:p>
        </p:txBody>
      </p:sp>
      <p:sp>
        <p:nvSpPr>
          <p:cNvPr id="11" name="num 2"/>
          <p:cNvSpPr/>
          <p:nvPr/>
        </p:nvSpPr>
        <p:spPr>
          <a:xfrm>
            <a:off x="6263640" y="5138928"/>
            <a:ext cx="347472" cy="347472"/>
          </a:xfrm>
          <a:prstGeom prst="ellipse">
            <a:avLst/>
          </a:prstGeom>
          <a:solidFill>
            <a:srgbClr val="1D5FD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263640" y="51389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6766560" y="5120640"/>
            <a:ext cx="489204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C2230"/>
                </a:solidFill>
              </a:rPr>
              <a:t>가는 획만 굵어짐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D6678"/>
                </a:solidFill>
              </a:rPr>
              <a:t>"지금 획: 보통 · 가장 가는 곳" 확인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3. 🪣 채우기로 글자 색 나누기</a:t>
            </a:r>
            <a:endParaRPr lang="en-US" sz="3000" dirty="0"/>
          </a:p>
        </p:txBody>
      </p:sp>
      <p:sp>
        <p:nvSpPr>
          <p:cNvPr id="3" name="글자 색 바꾸기 frame"/>
          <p:cNvSpPr/>
          <p:nvPr/>
        </p:nvSpPr>
        <p:spPr>
          <a:xfrm>
            <a:off x="512064" y="1292867"/>
            <a:ext cx="5559552" cy="3906507"/>
          </a:xfrm>
          <a:prstGeom prst="rect">
            <a:avLst/>
          </a:prstGeom>
          <a:solidFill>
            <a:srgbClr val="FFFFFF"/>
          </a:solidFill>
          <a:ln w="12700">
            <a:solidFill>
              <a:srgbClr val="DFE3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글자 색 바꾸기" descr="글자 색 바꾸기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9443"/>
            <a:ext cx="5486400" cy="3833355"/>
          </a:xfrm>
          <a:prstGeom prst="rect">
            <a:avLst/>
          </a:prstGeom>
        </p:spPr>
      </p:pic>
      <p:sp>
        <p:nvSpPr>
          <p:cNvPr id="5" name="위에서 본 독도 키캡 frame"/>
          <p:cNvSpPr/>
          <p:nvPr/>
        </p:nvSpPr>
        <p:spPr>
          <a:xfrm>
            <a:off x="6364224" y="1243584"/>
            <a:ext cx="4005072" cy="4005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FE3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6" name="위에서 본 독도 키캡" descr="위에서 본 독도 키캡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280160"/>
            <a:ext cx="3931920" cy="3931920"/>
          </a:xfrm>
          <a:prstGeom prst="rect">
            <a:avLst/>
          </a:prstGeom>
        </p:spPr>
      </p:pic>
      <p:sp>
        <p:nvSpPr>
          <p:cNvPr id="7" name="num 1"/>
          <p:cNvSpPr/>
          <p:nvPr/>
        </p:nvSpPr>
        <p:spPr>
          <a:xfrm>
            <a:off x="548640" y="5468112"/>
            <a:ext cx="347472" cy="347472"/>
          </a:xfrm>
          <a:prstGeom prst="ellipse">
            <a:avLst/>
          </a:prstGeom>
          <a:solidFill>
            <a:srgbClr val="1D5FD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548640" y="54681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960120" y="544068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230"/>
                </a:solidFill>
              </a:rPr>
              <a:t>색 고르기 → 🪣 켜기</a:t>
            </a:r>
            <a:endParaRPr lang="en-US" sz="1300" dirty="0"/>
          </a:p>
        </p:txBody>
      </p:sp>
      <p:sp>
        <p:nvSpPr>
          <p:cNvPr id="10" name="num 2"/>
          <p:cNvSpPr/>
          <p:nvPr/>
        </p:nvSpPr>
        <p:spPr>
          <a:xfrm>
            <a:off x="2697480" y="5468112"/>
            <a:ext cx="347472" cy="347472"/>
          </a:xfrm>
          <a:prstGeom prst="ellipse">
            <a:avLst/>
          </a:prstGeom>
          <a:solidFill>
            <a:srgbClr val="1D5FD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2697480" y="54681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3108960" y="54406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230"/>
                </a:solidFill>
              </a:rPr>
              <a:t>"도" 글자 누르기</a:t>
            </a:r>
            <a:endParaRPr lang="en-US" sz="1300" dirty="0"/>
          </a:p>
        </p:txBody>
      </p:sp>
      <p:sp>
        <p:nvSpPr>
          <p:cNvPr id="13" name="num 3"/>
          <p:cNvSpPr/>
          <p:nvPr/>
        </p:nvSpPr>
        <p:spPr>
          <a:xfrm>
            <a:off x="4526280" y="5468112"/>
            <a:ext cx="347472" cy="347472"/>
          </a:xfrm>
          <a:prstGeom prst="ellipse">
            <a:avLst/>
          </a:prstGeom>
          <a:solidFill>
            <a:srgbClr val="7048E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4526280" y="54681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4937760" y="544068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230"/>
                </a:solidFill>
              </a:rPr>
              <a:t>3MF로 저장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0" y="5440680"/>
            <a:ext cx="5257800" cy="548640"/>
          </a:xfrm>
          <a:prstGeom prst="roundRect">
            <a:avLst>
              <a:gd name="adj" fmla="val 13333"/>
            </a:avLst>
          </a:prstGeom>
          <a:solidFill>
            <a:srgbClr val="E8F0FD"/>
          </a:solidFill>
          <a:ln w="12700">
            <a:solidFill>
              <a:srgbClr val="E8F0FD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6583680" y="5440680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3557"/>
                </a:solidFill>
              </a:rPr>
              <a:t>색마다 따로 파트가 나뉘어 슬라이서에서 필라멘트를 고를 수 있어요.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✎ 글자 고치기 — 마음에 안 들면 다시</a:t>
            </a:r>
            <a:endParaRPr lang="en-US" sz="3000" dirty="0"/>
          </a:p>
        </p:txBody>
      </p:sp>
      <p:sp>
        <p:nvSpPr>
          <p:cNvPr id="3" name="num 1"/>
          <p:cNvSpPr/>
          <p:nvPr/>
        </p:nvSpPr>
        <p:spPr>
          <a:xfrm>
            <a:off x="548640" y="1389888"/>
            <a:ext cx="347472" cy="347472"/>
          </a:xfrm>
          <a:prstGeom prst="ellipse">
            <a:avLst/>
          </a:prstGeom>
          <a:solidFill>
            <a:srgbClr val="7048E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3898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371600"/>
            <a:ext cx="61722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C2230"/>
                </a:solidFill>
              </a:rPr>
              <a:t>놓인 글자를 클릭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D6678"/>
                </a:solidFill>
              </a:rPr>
              <a:t>텍스트 도구가 자동으로 "고치기" 모드로 바뀜</a:t>
            </a:r>
            <a:endParaRPr lang="en-US" sz="1500" dirty="0"/>
          </a:p>
        </p:txBody>
      </p:sp>
      <p:sp>
        <p:nvSpPr>
          <p:cNvPr id="6" name="num 2"/>
          <p:cNvSpPr/>
          <p:nvPr/>
        </p:nvSpPr>
        <p:spPr>
          <a:xfrm>
            <a:off x="548640" y="2395728"/>
            <a:ext cx="347472" cy="347472"/>
          </a:xfrm>
          <a:prstGeom prst="ellipse">
            <a:avLst/>
          </a:prstGeom>
          <a:solidFill>
            <a:srgbClr val="7048E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3957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2377440"/>
            <a:ext cx="61722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C2230"/>
                </a:solidFill>
              </a:rPr>
              <a:t>내용·크기·획 폭·색·자리 모두 다시 조정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D6678"/>
                </a:solidFill>
              </a:rPr>
              <a:t>처음부터 지우고 다시 만들 필요 없음</a:t>
            </a:r>
            <a:endParaRPr lang="en-US" sz="1500" dirty="0"/>
          </a:p>
        </p:txBody>
      </p:sp>
      <p:sp>
        <p:nvSpPr>
          <p:cNvPr id="9" name="num 3"/>
          <p:cNvSpPr/>
          <p:nvPr/>
        </p:nvSpPr>
        <p:spPr>
          <a:xfrm>
            <a:off x="548640" y="3401568"/>
            <a:ext cx="347472" cy="347472"/>
          </a:xfrm>
          <a:prstGeom prst="ellipse">
            <a:avLst/>
          </a:prstGeom>
          <a:solidFill>
            <a:srgbClr val="7048E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4015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3383280"/>
            <a:ext cx="61722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C2230"/>
                </a:solidFill>
              </a:rPr>
              <a:t>자리는 끌어서 이동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D6678"/>
                </a:solidFill>
              </a:rPr>
              <a:t>또는 방향키로 미세 이동</a:t>
            </a:r>
            <a:endParaRPr lang="en-US" sz="1500" dirty="0"/>
          </a:p>
        </p:txBody>
      </p:sp>
      <p:sp>
        <p:nvSpPr>
          <p:cNvPr id="12" name="num 4"/>
          <p:cNvSpPr/>
          <p:nvPr/>
        </p:nvSpPr>
        <p:spPr>
          <a:xfrm>
            <a:off x="548640" y="4407408"/>
            <a:ext cx="347472" cy="347472"/>
          </a:xfrm>
          <a:prstGeom prst="ellipse">
            <a:avLst/>
          </a:prstGeom>
          <a:solidFill>
            <a:srgbClr val="7048E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44074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4389120"/>
            <a:ext cx="61722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C2230"/>
                </a:solidFill>
              </a:rPr>
              <a:t>지우기도 같은 곳에서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D6678"/>
                </a:solidFill>
              </a:rPr>
              <a:t>편집창의 지우기 버튼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5486400"/>
            <a:ext cx="6675120" cy="640080"/>
          </a:xfrm>
          <a:prstGeom prst="roundRect">
            <a:avLst>
              <a:gd name="adj" fmla="val 11429"/>
            </a:avLst>
          </a:prstGeom>
          <a:solidFill>
            <a:srgbClr val="EFEBFC"/>
          </a:solidFill>
          <a:ln w="12700">
            <a:solidFill>
              <a:srgbClr val="EFEBF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5486400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2FA8"/>
                </a:solidFill>
              </a:rPr>
              <a:t>"조금만 왼쪽으로", "크기만 살짝 작게" 같은 미세 조정은 이 기능으로 빠르게 끝낼 수 있어요.</a:t>
            </a:r>
            <a:endParaRPr lang="en-US" sz="1400" dirty="0"/>
          </a:p>
        </p:txBody>
      </p:sp>
      <p:sp>
        <p:nvSpPr>
          <p:cNvPr id="17" name="글자 다시 고치기 frame"/>
          <p:cNvSpPr/>
          <p:nvPr/>
        </p:nvSpPr>
        <p:spPr>
          <a:xfrm>
            <a:off x="7370064" y="1374331"/>
            <a:ext cx="4279392" cy="3012057"/>
          </a:xfrm>
          <a:prstGeom prst="rect">
            <a:avLst/>
          </a:prstGeom>
          <a:solidFill>
            <a:srgbClr val="FFFFFF"/>
          </a:solidFill>
          <a:ln w="12700">
            <a:solidFill>
              <a:srgbClr val="DFE3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18" name="글자 다시 고치기" descr="글자 다시 고치기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1410907"/>
            <a:ext cx="4206240" cy="293890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활동 2 정리</a:t>
            </a:r>
            <a:endParaRPr lang="en-US" sz="3000" dirty="0"/>
          </a:p>
        </p:txBody>
      </p:sp>
      <p:sp>
        <p:nvSpPr>
          <p:cNvPr id="3" name="완성된 독도 키캡 frame"/>
          <p:cNvSpPr/>
          <p:nvPr/>
        </p:nvSpPr>
        <p:spPr>
          <a:xfrm>
            <a:off x="512064" y="1243584"/>
            <a:ext cx="3273552" cy="3273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FE3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완성된 독도 키캡" descr="완성된 독도 키캡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3200400" cy="3200400"/>
          </a:xfrm>
          <a:prstGeom prst="rect">
            <a:avLst/>
          </a:prstGeom>
        </p:spPr>
      </p:pic>
      <p:sp>
        <p:nvSpPr>
          <p:cNvPr id="5" name="num 1"/>
          <p:cNvSpPr/>
          <p:nvPr/>
        </p:nvSpPr>
        <p:spPr>
          <a:xfrm>
            <a:off x="4114800" y="1344168"/>
            <a:ext cx="347472" cy="347472"/>
          </a:xfrm>
          <a:prstGeom prst="ellipse">
            <a:avLst/>
          </a:prstGeom>
          <a:solidFill>
            <a:srgbClr val="1D5FD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114800" y="1344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4617720" y="1325880"/>
            <a:ext cx="699516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C2230"/>
                </a:solidFill>
              </a:rPr>
              <a:t>텍스트 탭에서 글자 입력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D6678"/>
                </a:solidFill>
              </a:rPr>
              <a:t>[한] 표시가 있는 굵은 폰트로</a:t>
            </a:r>
            <a:endParaRPr lang="en-US" sz="1500" dirty="0"/>
          </a:p>
        </p:txBody>
      </p:sp>
      <p:sp>
        <p:nvSpPr>
          <p:cNvPr id="8" name="num 2"/>
          <p:cNvSpPr/>
          <p:nvPr/>
        </p:nvSpPr>
        <p:spPr>
          <a:xfrm>
            <a:off x="4114800" y="2304288"/>
            <a:ext cx="347472" cy="347472"/>
          </a:xfrm>
          <a:prstGeom prst="ellipse">
            <a:avLst/>
          </a:prstGeom>
          <a:solidFill>
            <a:srgbClr val="1D5FD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114800" y="23042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4617720" y="2286000"/>
            <a:ext cx="699516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C2230"/>
                </a:solidFill>
              </a:rPr>
              <a:t>키캡 모드 + 최소 획 폭 0.8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D6678"/>
                </a:solidFill>
              </a:rPr>
              <a:t>그림의 "두께 +"와 같은 역할, 입력 한 번으로 끝</a:t>
            </a:r>
            <a:endParaRPr lang="en-US" sz="1500" dirty="0"/>
          </a:p>
        </p:txBody>
      </p:sp>
      <p:sp>
        <p:nvSpPr>
          <p:cNvPr id="11" name="num 3"/>
          <p:cNvSpPr/>
          <p:nvPr/>
        </p:nvSpPr>
        <p:spPr>
          <a:xfrm>
            <a:off x="4114800" y="3264408"/>
            <a:ext cx="347472" cy="347472"/>
          </a:xfrm>
          <a:prstGeom prst="ellipse">
            <a:avLst/>
          </a:prstGeom>
          <a:solidFill>
            <a:srgbClr val="1D5FD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114800" y="32644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4617720" y="3246120"/>
            <a:ext cx="699516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C2230"/>
                </a:solidFill>
              </a:rPr>
              <a:t>🪣 채우기로 글자마다 색 나누기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D6678"/>
                </a:solidFill>
              </a:rPr>
              <a:t>3MF에서 색상별 파트로 분리됨</a:t>
            </a:r>
            <a:endParaRPr lang="en-US" sz="1500" dirty="0"/>
          </a:p>
        </p:txBody>
      </p:sp>
      <p:sp>
        <p:nvSpPr>
          <p:cNvPr id="14" name="num 4"/>
          <p:cNvSpPr/>
          <p:nvPr/>
        </p:nvSpPr>
        <p:spPr>
          <a:xfrm>
            <a:off x="4114800" y="4224528"/>
            <a:ext cx="347472" cy="347472"/>
          </a:xfrm>
          <a:prstGeom prst="ellipse">
            <a:avLst/>
          </a:prstGeom>
          <a:solidFill>
            <a:srgbClr val="1D5FD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114800" y="42245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4617720" y="4206240"/>
            <a:ext cx="699516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C2230"/>
                </a:solidFill>
              </a:rPr>
              <a:t>마음에 안 들면 ✎ 글자 고치기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D6678"/>
                </a:solidFill>
              </a:rPr>
              <a:t>다시 만들지 말고 수정으로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4114800" y="5486400"/>
            <a:ext cx="7498080" cy="502920"/>
          </a:xfrm>
          <a:prstGeom prst="roundRect">
            <a:avLst>
              <a:gd name="adj" fmla="val 14545"/>
            </a:avLst>
          </a:prstGeom>
          <a:solidFill>
            <a:srgbClr val="E8F0FD"/>
          </a:solidFill>
          <a:ln w="12700">
            <a:solidFill>
              <a:srgbClr val="E8F0FD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297680" y="548640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3557"/>
                </a:solidFill>
              </a:rPr>
              <a:t>그림이든 글자든 "작아지면 선이 가늘어진다"는 같은 원리가 적용됩니다.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저장하고 출력하기</a:t>
            </a:r>
            <a:endParaRPr lang="en-US" sz="30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4206240"/>
                <a:gridCol w="393192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저장 버튼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2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언제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2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여는 곳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23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7048E8"/>
                          </a:solidFill>
                        </a:rPr>
                        <a:t>3MF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230"/>
                          </a:solidFill>
                        </a:rPr>
                        <a:t>색이 여러 개일 때 (추천)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230"/>
                          </a:solidFill>
                        </a:rPr>
                        <a:t>Bambu Studio · OrcaSlicer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7048E8"/>
                          </a:solidFill>
                        </a:rPr>
                        <a:t>STL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230"/>
                          </a:solidFill>
                        </a:rPr>
                        <a:t>한 색으로 출력할 때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230"/>
                          </a:solidFill>
                        </a:rPr>
                        <a:t>모든 슬라이서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495057"/>
                          </a:solidFill>
                        </a:rPr>
                        <a:t>프로젝트 → 저장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230"/>
                          </a:solidFill>
                        </a:rPr>
                        <a:t>다음 시간에 이어서 고칠 때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230"/>
                          </a:solidFill>
                        </a:rPr>
                        <a:t>SVG Forge (.svgforge)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num 1"/>
          <p:cNvSpPr/>
          <p:nvPr/>
        </p:nvSpPr>
        <p:spPr>
          <a:xfrm>
            <a:off x="548640" y="3904488"/>
            <a:ext cx="347472" cy="347472"/>
          </a:xfrm>
          <a:prstGeom prst="ellipse">
            <a:avLst/>
          </a:prstGeom>
          <a:solidFill>
            <a:srgbClr val="7048E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39044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1051560" y="3886200"/>
            <a:ext cx="10561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C2230"/>
                </a:solidFill>
              </a:rPr>
              <a:t>스템이 헐겁거나 빡빡하면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D6678"/>
                </a:solidFill>
              </a:rPr>
              <a:t>키캡 → 공차를 0.05mm씩 바꿔 다시 출력</a:t>
            </a:r>
            <a:endParaRPr lang="en-US" sz="1500" dirty="0"/>
          </a:p>
        </p:txBody>
      </p:sp>
      <p:sp>
        <p:nvSpPr>
          <p:cNvPr id="7" name="num 2"/>
          <p:cNvSpPr/>
          <p:nvPr/>
        </p:nvSpPr>
        <p:spPr>
          <a:xfrm>
            <a:off x="548640" y="4544568"/>
            <a:ext cx="347472" cy="347472"/>
          </a:xfrm>
          <a:prstGeom prst="ellipse">
            <a:avLst/>
          </a:prstGeom>
          <a:solidFill>
            <a:srgbClr val="7048E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45445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051560" y="4526280"/>
            <a:ext cx="10561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C2230"/>
                </a:solidFill>
              </a:rPr>
              <a:t>슬라이서에서 서포트 확인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D6678"/>
                </a:solidFill>
              </a:rPr>
              <a:t>키캡 안쪽 빈 공간을 미리 살펴보기</a:t>
            </a:r>
            <a:endParaRPr lang="en-US" sz="1500" dirty="0"/>
          </a:p>
        </p:txBody>
      </p:sp>
      <p:sp>
        <p:nvSpPr>
          <p:cNvPr id="10" name="num 3"/>
          <p:cNvSpPr/>
          <p:nvPr/>
        </p:nvSpPr>
        <p:spPr>
          <a:xfrm>
            <a:off x="548640" y="5184648"/>
            <a:ext cx="347472" cy="347472"/>
          </a:xfrm>
          <a:prstGeom prst="ellipse">
            <a:avLst/>
          </a:prstGeom>
          <a:solidFill>
            <a:srgbClr val="7048E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8640" y="51846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1051560" y="5166360"/>
            <a:ext cx="10561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C2230"/>
                </a:solidFill>
              </a:rPr>
              <a:t>시험 출력 1개 먼저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D6678"/>
                </a:solidFill>
              </a:rPr>
              <a:t>맞으면 여러 개 출력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완성 전 체크리스트</a:t>
            </a:r>
            <a:endParaRPr lang="en-US" sz="3000" dirty="0"/>
          </a:p>
        </p:txBody>
      </p:sp>
      <p:sp>
        <p:nvSpPr>
          <p:cNvPr id="3" name="check 1"/>
          <p:cNvSpPr/>
          <p:nvPr/>
        </p:nvSpPr>
        <p:spPr>
          <a:xfrm>
            <a:off x="548640" y="1325880"/>
            <a:ext cx="5440680" cy="1234440"/>
          </a:xfrm>
          <a:prstGeom prst="roundRect">
            <a:avLst>
              <a:gd name="adj" fmla="val 8889"/>
            </a:avLst>
          </a:prstGeom>
          <a:solidFill>
            <a:srgbClr val="F3F4F7"/>
          </a:solidFill>
          <a:ln w="12700">
            <a:solidFill>
              <a:srgbClr val="DFE3EA"/>
            </a:solidFill>
            <a:prstDash val="solid"/>
          </a:ln>
        </p:spPr>
      </p:sp>
      <p:sp>
        <p:nvSpPr>
          <p:cNvPr id="4" name="box 1"/>
          <p:cNvSpPr/>
          <p:nvPr/>
        </p:nvSpPr>
        <p:spPr>
          <a:xfrm>
            <a:off x="868680" y="169164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25400">
            <a:solidFill>
              <a:srgbClr val="7048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645920" y="1325880"/>
            <a:ext cx="4206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2230"/>
                </a:solidFill>
              </a:rPr>
              <a:t>빨간 표시가 거의 없다</a:t>
            </a:r>
            <a:endParaRPr lang="en-US" sz="1900" dirty="0"/>
          </a:p>
          <a:p>
            <a:pPr indent="0" marL="0">
              <a:buNone/>
            </a:pPr>
            <a:r>
              <a:rPr lang="en-US" sz="1400" dirty="0">
                <a:solidFill>
                  <a:srgbClr val="5D6678"/>
                </a:solidFill>
              </a:rPr>
              <a:t>가는 선·작은 조각 정리</a:t>
            </a:r>
            <a:endParaRPr lang="en-US" sz="1900" dirty="0"/>
          </a:p>
        </p:txBody>
      </p:sp>
      <p:sp>
        <p:nvSpPr>
          <p:cNvPr id="6" name="check 2"/>
          <p:cNvSpPr/>
          <p:nvPr/>
        </p:nvSpPr>
        <p:spPr>
          <a:xfrm>
            <a:off x="6172200" y="1325880"/>
            <a:ext cx="5440680" cy="1234440"/>
          </a:xfrm>
          <a:prstGeom prst="roundRect">
            <a:avLst>
              <a:gd name="adj" fmla="val 8889"/>
            </a:avLst>
          </a:prstGeom>
          <a:solidFill>
            <a:srgbClr val="F3F4F7"/>
          </a:solidFill>
          <a:ln w="12700">
            <a:solidFill>
              <a:srgbClr val="DFE3EA"/>
            </a:solidFill>
            <a:prstDash val="solid"/>
          </a:ln>
        </p:spPr>
      </p:sp>
      <p:sp>
        <p:nvSpPr>
          <p:cNvPr id="7" name="box 2"/>
          <p:cNvSpPr/>
          <p:nvPr/>
        </p:nvSpPr>
        <p:spPr>
          <a:xfrm>
            <a:off x="6492240" y="169164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25400">
            <a:solidFill>
              <a:srgbClr val="7048E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269480" y="1325880"/>
            <a:ext cx="4206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2230"/>
                </a:solidFill>
              </a:rPr>
              <a:t>키캡 경고가 없다</a:t>
            </a:r>
            <a:endParaRPr lang="en-US" sz="1900" dirty="0"/>
          </a:p>
          <a:p>
            <a:pPr indent="0" marL="0">
              <a:buNone/>
            </a:pPr>
            <a:r>
              <a:rPr lang="en-US" sz="1400" dirty="0">
                <a:solidFill>
                  <a:srgbClr val="5D6678"/>
                </a:solidFill>
              </a:rPr>
              <a:t>"윗면보다 커서 잘립니다" 없음</a:t>
            </a:r>
            <a:endParaRPr lang="en-US" sz="1900" dirty="0"/>
          </a:p>
        </p:txBody>
      </p:sp>
      <p:sp>
        <p:nvSpPr>
          <p:cNvPr id="9" name="check 3"/>
          <p:cNvSpPr/>
          <p:nvPr/>
        </p:nvSpPr>
        <p:spPr>
          <a:xfrm>
            <a:off x="548640" y="2788920"/>
            <a:ext cx="5440680" cy="1234440"/>
          </a:xfrm>
          <a:prstGeom prst="roundRect">
            <a:avLst>
              <a:gd name="adj" fmla="val 8889"/>
            </a:avLst>
          </a:prstGeom>
          <a:solidFill>
            <a:srgbClr val="F3F4F7"/>
          </a:solidFill>
          <a:ln w="12700">
            <a:solidFill>
              <a:srgbClr val="DFE3EA"/>
            </a:solidFill>
            <a:prstDash val="solid"/>
          </a:ln>
        </p:spPr>
      </p:sp>
      <p:sp>
        <p:nvSpPr>
          <p:cNvPr id="10" name="box 3"/>
          <p:cNvSpPr/>
          <p:nvPr/>
        </p:nvSpPr>
        <p:spPr>
          <a:xfrm>
            <a:off x="868680" y="315468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25400">
            <a:solidFill>
              <a:srgbClr val="7048E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645920" y="2788920"/>
            <a:ext cx="4206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2230"/>
                </a:solidFill>
              </a:rPr>
              <a:t>3D "위" 보기로 확인</a:t>
            </a:r>
            <a:endParaRPr lang="en-US" sz="1900" dirty="0"/>
          </a:p>
          <a:p>
            <a:pPr indent="0" marL="0">
              <a:buNone/>
            </a:pPr>
            <a:r>
              <a:rPr lang="en-US" sz="1400" dirty="0">
                <a:solidFill>
                  <a:srgbClr val="5D6678"/>
                </a:solidFill>
              </a:rPr>
              <a:t>모양이 또렷하게 보이는지</a:t>
            </a:r>
            <a:endParaRPr lang="en-US" sz="1900" dirty="0"/>
          </a:p>
        </p:txBody>
      </p:sp>
      <p:sp>
        <p:nvSpPr>
          <p:cNvPr id="12" name="check 4"/>
          <p:cNvSpPr/>
          <p:nvPr/>
        </p:nvSpPr>
        <p:spPr>
          <a:xfrm>
            <a:off x="6172200" y="2788920"/>
            <a:ext cx="5440680" cy="1234440"/>
          </a:xfrm>
          <a:prstGeom prst="roundRect">
            <a:avLst>
              <a:gd name="adj" fmla="val 8889"/>
            </a:avLst>
          </a:prstGeom>
          <a:solidFill>
            <a:srgbClr val="F3F4F7"/>
          </a:solidFill>
          <a:ln w="12700">
            <a:solidFill>
              <a:srgbClr val="DFE3EA"/>
            </a:solidFill>
            <a:prstDash val="solid"/>
          </a:ln>
        </p:spPr>
      </p:sp>
      <p:sp>
        <p:nvSpPr>
          <p:cNvPr id="13" name="box 4"/>
          <p:cNvSpPr/>
          <p:nvPr/>
        </p:nvSpPr>
        <p:spPr>
          <a:xfrm>
            <a:off x="6492240" y="315468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25400">
            <a:solidFill>
              <a:srgbClr val="7048E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269480" y="2788920"/>
            <a:ext cx="4206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2230"/>
                </a:solidFill>
              </a:rPr>
              <a:t>색이 원하는 대로 나뉨</a:t>
            </a:r>
            <a:endParaRPr lang="en-US" sz="1900" dirty="0"/>
          </a:p>
          <a:p>
            <a:pPr indent="0" marL="0">
              <a:buNone/>
            </a:pPr>
            <a:r>
              <a:rPr lang="en-US" sz="1400" dirty="0">
                <a:solidFill>
                  <a:srgbClr val="5D6678"/>
                </a:solidFill>
              </a:rPr>
              <a:t>색상별 높이도 확인</a:t>
            </a:r>
            <a:endParaRPr lang="en-US" sz="1900" dirty="0"/>
          </a:p>
        </p:txBody>
      </p:sp>
      <p:sp>
        <p:nvSpPr>
          <p:cNvPr id="15" name="check 5"/>
          <p:cNvSpPr/>
          <p:nvPr/>
        </p:nvSpPr>
        <p:spPr>
          <a:xfrm>
            <a:off x="548640" y="4251960"/>
            <a:ext cx="5440680" cy="1234440"/>
          </a:xfrm>
          <a:prstGeom prst="roundRect">
            <a:avLst>
              <a:gd name="adj" fmla="val 8889"/>
            </a:avLst>
          </a:prstGeom>
          <a:solidFill>
            <a:srgbClr val="F3F4F7"/>
          </a:solidFill>
          <a:ln w="12700">
            <a:solidFill>
              <a:srgbClr val="DFE3EA"/>
            </a:solidFill>
            <a:prstDash val="solid"/>
          </a:ln>
        </p:spPr>
      </p:sp>
      <p:sp>
        <p:nvSpPr>
          <p:cNvPr id="16" name="box 5"/>
          <p:cNvSpPr/>
          <p:nvPr/>
        </p:nvSpPr>
        <p:spPr>
          <a:xfrm>
            <a:off x="868680" y="46177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25400">
            <a:solidFill>
              <a:srgbClr val="7048E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645920" y="4251960"/>
            <a:ext cx="4206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2230"/>
                </a:solidFill>
              </a:rPr>
              <a:t>3MF 저장</a:t>
            </a:r>
            <a:endParaRPr lang="en-US" sz="1900" dirty="0"/>
          </a:p>
          <a:p>
            <a:pPr indent="0" marL="0">
              <a:buNone/>
            </a:pPr>
            <a:r>
              <a:rPr lang="en-US" sz="1400" dirty="0">
                <a:solidFill>
                  <a:srgbClr val="5D6678"/>
                </a:solidFill>
              </a:rPr>
              <a:t>파일 이름에 내 이름</a:t>
            </a:r>
            <a:endParaRPr lang="en-US" sz="1900" dirty="0"/>
          </a:p>
        </p:txBody>
      </p:sp>
      <p:sp>
        <p:nvSpPr>
          <p:cNvPr id="18" name="check 6"/>
          <p:cNvSpPr/>
          <p:nvPr/>
        </p:nvSpPr>
        <p:spPr>
          <a:xfrm>
            <a:off x="6172200" y="4251960"/>
            <a:ext cx="5440680" cy="1234440"/>
          </a:xfrm>
          <a:prstGeom prst="roundRect">
            <a:avLst>
              <a:gd name="adj" fmla="val 8889"/>
            </a:avLst>
          </a:prstGeom>
          <a:solidFill>
            <a:srgbClr val="F3F4F7"/>
          </a:solidFill>
          <a:ln w="12700">
            <a:solidFill>
              <a:srgbClr val="DFE3EA"/>
            </a:solidFill>
            <a:prstDash val="solid"/>
          </a:ln>
        </p:spPr>
      </p:sp>
      <p:sp>
        <p:nvSpPr>
          <p:cNvPr id="19" name="box 6"/>
          <p:cNvSpPr/>
          <p:nvPr/>
        </p:nvSpPr>
        <p:spPr>
          <a:xfrm>
            <a:off x="6492240" y="46177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25400">
            <a:solidFill>
              <a:srgbClr val="7048E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269480" y="4251960"/>
            <a:ext cx="4206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2230"/>
                </a:solidFill>
              </a:rPr>
              <a:t>프로젝트 저장</a:t>
            </a:r>
            <a:endParaRPr lang="en-US" sz="1900" dirty="0"/>
          </a:p>
          <a:p>
            <a:pPr indent="0" marL="0">
              <a:buNone/>
            </a:pPr>
            <a:r>
              <a:rPr lang="en-US" sz="1400" dirty="0">
                <a:solidFill>
                  <a:srgbClr val="5D6678"/>
                </a:solidFill>
              </a:rPr>
              <a:t>다음 시간에 이어서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알아두면 편한 단축키</a:t>
            </a:r>
            <a:endParaRPr lang="en-US" sz="3000" dirty="0"/>
          </a:p>
        </p:txBody>
      </p:sp>
      <p:sp>
        <p:nvSpPr>
          <p:cNvPr id="3" name="key 1"/>
          <p:cNvSpPr/>
          <p:nvPr/>
        </p:nvSpPr>
        <p:spPr>
          <a:xfrm>
            <a:off x="548640" y="1371600"/>
            <a:ext cx="3520440" cy="1097280"/>
          </a:xfrm>
          <a:prstGeom prst="roundRect">
            <a:avLst>
              <a:gd name="adj" fmla="val 8333"/>
            </a:avLst>
          </a:prstGeom>
          <a:solidFill>
            <a:srgbClr val="F3F4F7"/>
          </a:solidFill>
          <a:ln w="12700">
            <a:solidFill>
              <a:srgbClr val="DFE3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664208"/>
            <a:ext cx="160020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5875">
            <a:solidFill>
              <a:srgbClr val="B7C0D1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1664208"/>
            <a:ext cx="1600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230"/>
                </a:solidFill>
              </a:rPr>
              <a:t>Ctrl + Z / Y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2468880" y="137160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678"/>
                </a:solidFill>
              </a:rPr>
              <a:t>되돌리기 / 다시</a:t>
            </a:r>
            <a:endParaRPr lang="en-US" sz="1300" dirty="0"/>
          </a:p>
        </p:txBody>
      </p:sp>
      <p:sp>
        <p:nvSpPr>
          <p:cNvPr id="7" name="key 2"/>
          <p:cNvSpPr/>
          <p:nvPr/>
        </p:nvSpPr>
        <p:spPr>
          <a:xfrm>
            <a:off x="4297680" y="1371600"/>
            <a:ext cx="3520440" cy="1097280"/>
          </a:xfrm>
          <a:prstGeom prst="roundRect">
            <a:avLst>
              <a:gd name="adj" fmla="val 8333"/>
            </a:avLst>
          </a:prstGeom>
          <a:solidFill>
            <a:srgbClr val="F3F4F7"/>
          </a:solidFill>
          <a:ln w="12700">
            <a:solidFill>
              <a:srgbClr val="DFE3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480560" y="1664208"/>
            <a:ext cx="160020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5875">
            <a:solidFill>
              <a:srgbClr val="B7C0D1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480560" y="1664208"/>
            <a:ext cx="1600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230"/>
                </a:solidFill>
              </a:rPr>
              <a:t>Delete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217920" y="137160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678"/>
                </a:solidFill>
              </a:rPr>
              <a:t>선택 도형 삭제</a:t>
            </a:r>
            <a:endParaRPr lang="en-US" sz="1300" dirty="0"/>
          </a:p>
        </p:txBody>
      </p:sp>
      <p:sp>
        <p:nvSpPr>
          <p:cNvPr id="11" name="key 3"/>
          <p:cNvSpPr/>
          <p:nvPr/>
        </p:nvSpPr>
        <p:spPr>
          <a:xfrm>
            <a:off x="8046720" y="1371600"/>
            <a:ext cx="3520440" cy="1097280"/>
          </a:xfrm>
          <a:prstGeom prst="roundRect">
            <a:avLst>
              <a:gd name="adj" fmla="val 8333"/>
            </a:avLst>
          </a:prstGeom>
          <a:solidFill>
            <a:srgbClr val="F3F4F7"/>
          </a:solidFill>
          <a:ln w="12700">
            <a:solidFill>
              <a:srgbClr val="DFE3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0" y="1664208"/>
            <a:ext cx="160020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5875">
            <a:solidFill>
              <a:srgbClr val="B7C0D1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229600" y="1664208"/>
            <a:ext cx="1600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230"/>
                </a:solidFill>
              </a:rPr>
              <a:t>Esc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9966960" y="137160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678"/>
                </a:solidFill>
              </a:rPr>
              <a:t>도구 끄기 · 선택 해제</a:t>
            </a:r>
            <a:endParaRPr lang="en-US" sz="1300" dirty="0"/>
          </a:p>
        </p:txBody>
      </p:sp>
      <p:sp>
        <p:nvSpPr>
          <p:cNvPr id="15" name="key 4"/>
          <p:cNvSpPr/>
          <p:nvPr/>
        </p:nvSpPr>
        <p:spPr>
          <a:xfrm>
            <a:off x="548640" y="2743200"/>
            <a:ext cx="3520440" cy="1097280"/>
          </a:xfrm>
          <a:prstGeom prst="roundRect">
            <a:avLst>
              <a:gd name="adj" fmla="val 8333"/>
            </a:avLst>
          </a:prstGeom>
          <a:solidFill>
            <a:srgbClr val="F3F4F7"/>
          </a:solidFill>
          <a:ln w="12700">
            <a:solidFill>
              <a:srgbClr val="DFE3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3035808"/>
            <a:ext cx="160020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5875">
            <a:solidFill>
              <a:srgbClr val="B7C0D1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731520" y="3035808"/>
            <a:ext cx="1600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230"/>
                </a:solidFill>
              </a:rPr>
              <a:t>Ctrl + 클릭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2468880" y="274320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678"/>
                </a:solidFill>
              </a:rPr>
              <a:t>여러 개 선택</a:t>
            </a:r>
            <a:endParaRPr lang="en-US" sz="1300" dirty="0"/>
          </a:p>
        </p:txBody>
      </p:sp>
      <p:sp>
        <p:nvSpPr>
          <p:cNvPr id="19" name="key 5"/>
          <p:cNvSpPr/>
          <p:nvPr/>
        </p:nvSpPr>
        <p:spPr>
          <a:xfrm>
            <a:off x="4297680" y="2743200"/>
            <a:ext cx="3520440" cy="1097280"/>
          </a:xfrm>
          <a:prstGeom prst="roundRect">
            <a:avLst>
              <a:gd name="adj" fmla="val 8333"/>
            </a:avLst>
          </a:prstGeom>
          <a:solidFill>
            <a:srgbClr val="F3F4F7"/>
          </a:solidFill>
          <a:ln w="12700">
            <a:solidFill>
              <a:srgbClr val="DFE3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480560" y="3035808"/>
            <a:ext cx="160020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5875">
            <a:solidFill>
              <a:srgbClr val="B7C0D1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4480560" y="3035808"/>
            <a:ext cx="1600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230"/>
                </a:solidFill>
              </a:rPr>
              <a:t>휠 버튼 끌기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217920" y="274320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678"/>
                </a:solidFill>
              </a:rPr>
              <a:t>화면 이동</a:t>
            </a:r>
            <a:endParaRPr lang="en-US" sz="1300" dirty="0"/>
          </a:p>
        </p:txBody>
      </p:sp>
      <p:sp>
        <p:nvSpPr>
          <p:cNvPr id="23" name="key 6"/>
          <p:cNvSpPr/>
          <p:nvPr/>
        </p:nvSpPr>
        <p:spPr>
          <a:xfrm>
            <a:off x="8046720" y="2743200"/>
            <a:ext cx="3520440" cy="1097280"/>
          </a:xfrm>
          <a:prstGeom prst="roundRect">
            <a:avLst>
              <a:gd name="adj" fmla="val 8333"/>
            </a:avLst>
          </a:prstGeom>
          <a:solidFill>
            <a:srgbClr val="F3F4F7"/>
          </a:solidFill>
          <a:ln w="12700">
            <a:solidFill>
              <a:srgbClr val="DFE3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29600" y="3035808"/>
            <a:ext cx="160020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5875">
            <a:solidFill>
              <a:srgbClr val="B7C0D1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8229600" y="3035808"/>
            <a:ext cx="1600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230"/>
                </a:solidFill>
              </a:rPr>
              <a:t>마우스 휠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9966960" y="274320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678"/>
                </a:solidFill>
              </a:rPr>
              <a:t>확대 · 축소</a:t>
            </a:r>
            <a:endParaRPr lang="en-US" sz="1300" dirty="0"/>
          </a:p>
        </p:txBody>
      </p:sp>
      <p:sp>
        <p:nvSpPr>
          <p:cNvPr id="27" name="key 7"/>
          <p:cNvSpPr/>
          <p:nvPr/>
        </p:nvSpPr>
        <p:spPr>
          <a:xfrm>
            <a:off x="548640" y="4114800"/>
            <a:ext cx="3520440" cy="1097280"/>
          </a:xfrm>
          <a:prstGeom prst="roundRect">
            <a:avLst>
              <a:gd name="adj" fmla="val 8333"/>
            </a:avLst>
          </a:prstGeom>
          <a:solidFill>
            <a:srgbClr val="F3F4F7"/>
          </a:solidFill>
          <a:ln w="12700">
            <a:solidFill>
              <a:srgbClr val="DFE3E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31520" y="4407408"/>
            <a:ext cx="160020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5875">
            <a:solidFill>
              <a:srgbClr val="B7C0D1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731520" y="4407408"/>
            <a:ext cx="1600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230"/>
                </a:solidFill>
              </a:rPr>
              <a:t>더블클릭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2468880" y="411480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678"/>
                </a:solidFill>
              </a:rPr>
              <a:t>처음 보기</a:t>
            </a:r>
            <a:endParaRPr lang="en-US" sz="1300" dirty="0"/>
          </a:p>
        </p:txBody>
      </p:sp>
      <p:sp>
        <p:nvSpPr>
          <p:cNvPr id="31" name="key 8"/>
          <p:cNvSpPr/>
          <p:nvPr/>
        </p:nvSpPr>
        <p:spPr>
          <a:xfrm>
            <a:off x="4297680" y="4114800"/>
            <a:ext cx="3520440" cy="1097280"/>
          </a:xfrm>
          <a:prstGeom prst="roundRect">
            <a:avLst>
              <a:gd name="adj" fmla="val 8333"/>
            </a:avLst>
          </a:prstGeom>
          <a:solidFill>
            <a:srgbClr val="F3F4F7"/>
          </a:solidFill>
          <a:ln w="12700">
            <a:solidFill>
              <a:srgbClr val="DFE3E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480560" y="4407408"/>
            <a:ext cx="160020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5875">
            <a:solidFill>
              <a:srgbClr val="B7C0D1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 txBox="1"/>
          <p:nvPr/>
        </p:nvSpPr>
        <p:spPr>
          <a:xfrm>
            <a:off x="4480560" y="4407408"/>
            <a:ext cx="1600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230"/>
                </a:solidFill>
              </a:rPr>
              <a:t>D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6217920" y="411480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678"/>
                </a:solidFill>
              </a:rPr>
              <a:t>치수 보이기</a:t>
            </a:r>
            <a:endParaRPr lang="en-US" sz="1300" dirty="0"/>
          </a:p>
        </p:txBody>
      </p:sp>
      <p:sp>
        <p:nvSpPr>
          <p:cNvPr id="35" name="key 9"/>
          <p:cNvSpPr/>
          <p:nvPr/>
        </p:nvSpPr>
        <p:spPr>
          <a:xfrm>
            <a:off x="8046720" y="4114800"/>
            <a:ext cx="3520440" cy="1097280"/>
          </a:xfrm>
          <a:prstGeom prst="roundRect">
            <a:avLst>
              <a:gd name="adj" fmla="val 8333"/>
            </a:avLst>
          </a:prstGeom>
          <a:solidFill>
            <a:srgbClr val="F3F4F7"/>
          </a:solidFill>
          <a:ln w="12700">
            <a:solidFill>
              <a:srgbClr val="DFE3E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229600" y="4407408"/>
            <a:ext cx="160020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5875">
            <a:solidFill>
              <a:srgbClr val="B7C0D1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 txBox="1"/>
          <p:nvPr/>
        </p:nvSpPr>
        <p:spPr>
          <a:xfrm>
            <a:off x="8229600" y="4407408"/>
            <a:ext cx="1600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230"/>
                </a:solidFill>
              </a:rPr>
              <a:t>방향키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9966960" y="411480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678"/>
                </a:solidFill>
              </a:rPr>
              <a:t>글자 미세 이동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시간이 남으면 — 확장 활동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520440" cy="3931920"/>
          </a:xfrm>
          <a:prstGeom prst="roundRect">
            <a:avLst>
              <a:gd name="adj" fmla="val 3117"/>
            </a:avLst>
          </a:prstGeom>
          <a:solidFill>
            <a:srgbClr val="F3F4F7"/>
          </a:solidFill>
          <a:ln w="12700">
            <a:solidFill>
              <a:srgbClr val="DFE3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1691640"/>
            <a:ext cx="457200" cy="457200"/>
          </a:xfrm>
          <a:prstGeom prst="ellipse">
            <a:avLst/>
          </a:prstGeom>
          <a:solidFill>
            <a:srgbClr val="1D5FD6"/>
          </a:solidFill>
          <a:ln w="12700">
            <a:solidFill>
              <a:srgbClr val="1D5FD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3317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2230"/>
                </a:solidFill>
              </a:rPr>
              <a:t>내 이름 키캡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926080"/>
            <a:ext cx="2926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D6678"/>
                </a:solidFill>
              </a:rPr>
              <a:t>"독도" 대신 자기 이름이나 이니셜로 다시 만들기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297680" y="1371600"/>
            <a:ext cx="3520440" cy="3931920"/>
          </a:xfrm>
          <a:prstGeom prst="roundRect">
            <a:avLst>
              <a:gd name="adj" fmla="val 3117"/>
            </a:avLst>
          </a:prstGeom>
          <a:solidFill>
            <a:srgbClr val="F3F4F7"/>
          </a:solidFill>
          <a:ln w="12700">
            <a:solidFill>
              <a:srgbClr val="DFE3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17720" y="1691640"/>
            <a:ext cx="457200" cy="457200"/>
          </a:xfrm>
          <a:prstGeom prst="ellipse">
            <a:avLst/>
          </a:prstGeom>
          <a:solidFill>
            <a:srgbClr val="0CA678"/>
          </a:solidFill>
          <a:ln w="12700">
            <a:solidFill>
              <a:srgbClr val="0CA67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17720" y="23317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2230"/>
                </a:solidFill>
              </a:rPr>
              <a:t>키링 모드 도전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4617720" y="2926080"/>
            <a:ext cx="2926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D6678"/>
                </a:solidFill>
              </a:rPr>
              <a:t>같은 그림을 모드만 바꿔 키링·네임택으로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046720" y="1371600"/>
            <a:ext cx="3520440" cy="3931920"/>
          </a:xfrm>
          <a:prstGeom prst="roundRect">
            <a:avLst>
              <a:gd name="adj" fmla="val 3117"/>
            </a:avLst>
          </a:prstGeom>
          <a:solidFill>
            <a:srgbClr val="F3F4F7"/>
          </a:solidFill>
          <a:ln w="12700">
            <a:solidFill>
              <a:srgbClr val="DFE3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366760" y="1691640"/>
            <a:ext cx="457200" cy="457200"/>
          </a:xfrm>
          <a:prstGeom prst="ellipse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66760" y="23317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2230"/>
                </a:solidFill>
              </a:rPr>
              <a:t>레이저로 새김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8366760" y="2926080"/>
            <a:ext cx="2926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D6678"/>
                </a:solidFill>
              </a:rPr>
              <a:t>레이저 가공 모드로 같은 그림을 아크릴에 새김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평가 기준 (참고)</a:t>
            </a:r>
            <a:endParaRPr lang="en-US" sz="30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017520"/>
                <a:gridCol w="3017520"/>
                <a:gridCol w="2651760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항목</a:t>
                      </a:r>
                      <a:endParaRPr lang="en-US" sz="15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2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잘함</a:t>
                      </a:r>
                      <a:endParaRPr lang="en-US" sz="15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2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보통</a:t>
                      </a:r>
                      <a:endParaRPr lang="en-US" sz="15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2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노력 필요</a:t>
                      </a:r>
                      <a:endParaRPr lang="en-US" sz="15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230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C2230"/>
                          </a:solidFill>
                        </a:rPr>
                        <a:t>선 굵기 판단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230"/>
                          </a:solidFill>
                        </a:rPr>
                        <a:t>빨간 표시 없이 모양도 유지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230"/>
                          </a:solidFill>
                        </a:rPr>
                        <a:t>빨간 표시는 없으나 모양이 뭉개짐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230"/>
                          </a:solidFill>
                        </a:rPr>
                        <a:t>빨간 표시가 남아 있음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C2230"/>
                          </a:solidFill>
                        </a:rPr>
                        <a:t>도구 활용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230"/>
                          </a:solidFill>
                        </a:rPr>
                        <a:t>범위·되돌리기를 스스로 활용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230"/>
                          </a:solidFill>
                        </a:rPr>
                        <a:t>안내를 보며 따라함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230"/>
                          </a:solidFill>
                        </a:rPr>
                        <a:t>도움이 많이 필요함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C2230"/>
                          </a:solidFill>
                        </a:rPr>
                        <a:t>파일 저장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230"/>
                          </a:solidFill>
                        </a:rPr>
                        <a:t>3MF·프로젝트 모두 저장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230"/>
                          </a:solidFill>
                        </a:rPr>
                        <a:t>3MF만 저장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230"/>
                          </a:solidFill>
                        </a:rPr>
                        <a:t>저장 형식을 혼동함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48640" y="4526280"/>
            <a:ext cx="11064240" cy="548640"/>
          </a:xfrm>
          <a:prstGeom prst="roundRect">
            <a:avLst>
              <a:gd name="adj" fmla="val 13333"/>
            </a:avLst>
          </a:prstGeom>
          <a:solidFill>
            <a:srgbClr val="E6F6F0"/>
          </a:solidFill>
          <a:ln w="12700">
            <a:solidFill>
              <a:srgbClr val="E6F6F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452628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6B4F"/>
                </a:solidFill>
              </a:rPr>
              <a:t>점수보다는 "왜 이 굵기를 골랐는지" 설명할 수 있는지를 더 눈여겨보세요.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자주 묻는 질문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5440680" cy="1965960"/>
          </a:xfrm>
          <a:prstGeom prst="roundRect">
            <a:avLst>
              <a:gd name="adj" fmla="val 5581"/>
            </a:avLst>
          </a:prstGeom>
          <a:solidFill>
            <a:srgbClr val="F3F4F7"/>
          </a:solidFill>
          <a:ln w="12700">
            <a:solidFill>
              <a:srgbClr val="DFE3E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50876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5FD6"/>
                </a:solidFill>
              </a:rPr>
              <a:t>Q. 빨간 표시가 하나도 안 없어져요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0312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D6678"/>
                </a:solidFill>
              </a:rPr>
              <a:t>아주 작은 부분(수염·점)은 Delete로 지우는 것도 방법입니다.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172200" y="1325880"/>
            <a:ext cx="5440680" cy="1965960"/>
          </a:xfrm>
          <a:prstGeom prst="roundRect">
            <a:avLst>
              <a:gd name="adj" fmla="val 5581"/>
            </a:avLst>
          </a:prstGeom>
          <a:solidFill>
            <a:srgbClr val="F3F4F7"/>
          </a:solidFill>
          <a:ln w="12700">
            <a:solidFill>
              <a:srgbClr val="DFE3E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46520" y="150876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5FD6"/>
                </a:solidFill>
              </a:rPr>
              <a:t>Q. 3D에서 색이 이상하게 보여요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46520" y="210312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D6678"/>
                </a:solidFill>
              </a:rPr>
              <a:t>화면 미리보기 색일 뿐, 3MF로 저장하면 지정한 색 그대로 출력됩니다.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520440"/>
            <a:ext cx="5440680" cy="1965960"/>
          </a:xfrm>
          <a:prstGeom prst="roundRect">
            <a:avLst>
              <a:gd name="adj" fmla="val 5581"/>
            </a:avLst>
          </a:prstGeom>
          <a:solidFill>
            <a:srgbClr val="F3F4F7"/>
          </a:solidFill>
          <a:ln w="12700">
            <a:solidFill>
              <a:srgbClr val="DFE3E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70332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5FD6"/>
                </a:solidFill>
              </a:rPr>
              <a:t>Q. 인터넷이 안 되는 교실인데요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29768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D6678"/>
                </a:solidFill>
              </a:rPr>
              <a:t>SVG Forge는 한 개의 HTML 파일이라 내려받아 두면 오프라인에서도 동작합니다.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72200" y="3520440"/>
            <a:ext cx="5440680" cy="1965960"/>
          </a:xfrm>
          <a:prstGeom prst="roundRect">
            <a:avLst>
              <a:gd name="adj" fmla="val 5581"/>
            </a:avLst>
          </a:prstGeom>
          <a:solidFill>
            <a:srgbClr val="F3F4F7"/>
          </a:solidFill>
          <a:ln w="12700">
            <a:solidFill>
              <a:srgbClr val="DFE3E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46520" y="370332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5FD6"/>
                </a:solidFill>
              </a:rPr>
              <a:t>Q. 학생마다 저장 파일을 어떻게 모으나요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446520" y="429768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D6678"/>
                </a:solidFill>
              </a:rPr>
              <a:t>USB나 공유 폴더에 "이름_3MF" 형식으로 저장하게 하면 편해요.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나만의 키캡 완성!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7472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9D4EA"/>
                </a:solidFill>
              </a:rPr>
              <a:t>다른 그림·내 이름으로도 도전해 보세요 · 키링과 레이저 모드도 있어요</a:t>
            </a:r>
            <a:endParaRPr lang="en-US" sz="1800" dirty="0"/>
          </a:p>
        </p:txBody>
      </p:sp>
      <p:pic>
        <p:nvPicPr>
          <p:cNvPr id="4" name="end seal" descr="물개 키캡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4206240"/>
            <a:ext cx="2103120" cy="1998470"/>
          </a:xfrm>
          <a:prstGeom prst="rect">
            <a:avLst/>
          </a:prstGeom>
        </p:spPr>
      </p:pic>
      <p:pic>
        <p:nvPicPr>
          <p:cNvPr id="5" name="end dokdo" descr="독도 키캡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4206240"/>
            <a:ext cx="2103120" cy="199929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VG Forge">
  <a:themeElements>
    <a:clrScheme name="SVG Forge">
      <a:dk1>
        <a:srgbClr val="1C2230"/>
      </a:dk1>
      <a:lt1>
        <a:srgbClr val="FFFFFF"/>
      </a:lt1>
      <a:dk2>
        <a:srgbClr val="1D3557"/>
      </a:dk2>
      <a:lt2>
        <a:srgbClr val="F3F4F7"/>
      </a:lt2>
      <a:accent1>
        <a:srgbClr val="1D5FD6"/>
      </a:accent1>
      <a:accent2>
        <a:srgbClr val="0CA678"/>
      </a:accent2>
      <a:accent3>
        <a:srgbClr val="7048E8"/>
      </a:accent3>
      <a:accent4>
        <a:srgbClr val="E8590C"/>
      </a:accent4>
      <a:accent5>
        <a:srgbClr val="F4B400"/>
      </a:accent5>
      <a:accent6>
        <a:srgbClr val="495057"/>
      </a:accent6>
      <a:hlink>
        <a:srgbClr val="1D5FD6"/>
      </a:hlink>
      <a:folHlink>
        <a:srgbClr val="7048E8"/>
      </a:folHlink>
    </a:clrScheme>
    <a:fontScheme name="SVG Forg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나만의 키캡 만들기 — SVG Forge</dc:title>
  <dc:subject>PptxGenJS Presentation</dc:subject>
  <dc:creator>uniquelife</dc:creator>
  <cp:lastModifiedBy>uniquelife</cp:lastModifiedBy>
  <cp:revision>1</cp:revision>
  <dcterms:created xsi:type="dcterms:W3CDTF">2026-10-13T14:05:17Z</dcterms:created>
  <dcterms:modified xsi:type="dcterms:W3CDTF">2026-10-13T14:05:17Z</dcterms:modified>
</cp:coreProperties>
</file>