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10669e2-08b6-8409-d094-5784e3dd9875}">
          <p14:sldIdLst>
            <p14:sldId id="256"/>
            <p14:sldId id="257"/>
            <p14:sldId id="258"/>
            <p14:sldId id="259"/>
            <p14:sldId id="260"/>
          </p14:sldIdLst>
        </p14:section>
        <p14:section name="활동 1 · 물개 그림" id="{1a69c4f0-ab90-3c94-cf76-cf8851ea1059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활동 2 · 독도" id="{3e608ff9-7766-cf67-7d71-7bae6cd943bc}">
          <p14:sldIdLst>
            <p14:sldId id="269"/>
            <p14:sldId id="270"/>
            <p14:sldId id="271"/>
            <p14:sldId id="272"/>
          </p14:sldIdLst>
        </p14:section>
        <p14:section name="마무리" id="{1c593dd5-1d79-432c-5524-13a44d95463d}">
          <p14:sldIdLst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SVG Forge로 그림과 글자를 키보드 키캡으로 만듭니다. 활동 1은 물개 그림, 활동 2는 "독도" 글자입니다.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키캡 모두 MX 호환 1u 크기입니다. 완성 파일은 3MF로 저장해 3D 프린터로 출력합니다.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1u 키캡은 바닥 18.1mm, 윗면은 10.9mm 정도입니다. 그림을 이 작은 면에 올리므로, 원래 그림의 선은 0.05mm 정도로 아주 가늘어집니다. 노즐 0.4mm 프린터는 선이 0.8mm 정도는 되어야 안정적으로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키캡 모드에서는 강조색이 보라색이고, 오른쪽에 키캡 설정이 나타납니다. 받침판·고리처럼 필요 없는 메뉴는 숨겨집니다.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그림이든 글자든 순서는 같습니다. 세 번째 단계에서 시간을 가장 많이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예시 그림은 손을 흔드는 물개입니다. 회색 몸통과 진한 테두리 선으로 이루어져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그림을 화면에 끌어다 놓으면 바로 도형으로 바뀝니다. 아래 상태줄에 두 가지 색(진한 회색 선, 연한 회색 몸통)이 보이는지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키캡 모드를 고르면 3D 화면에 키캡이 나타나고 그림이 윗면에 올라갑니다. 그림이 윗면보다 크면 자동으로 너비가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그림을 키캡 크기로 줄이면 선도 같은 비율로 가늘어집니다. 2D 화면에서 빨갛게 표시된 곳은 프린터가 만들 수 없을 만큼 가는 곳입니다.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선을 하나 누르면 위쪽에 편집 도구가 나타납니다. 범위를 "이 색 전체"로 바꾸면 테두리 선 전체가 한꺼번에 굵어집니다. 두께 칸의 값은 한쪽으로 늘어나는 양이므로 선 폭은 그 두 배만큼 늘어납니다.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번만 누르면 물개 모양이 잘 살지만 아직 0.8mm보다 가늘어 빨간 표시가 남습니다. 두 번 누르면 0.8mm를 넘지만 눈·코·수염이 서로 붙어 얼굴이 뭉개집니다. 학생들이 직접 비교해 보고 고르게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두께 + 는 도형의 테두리를 바깥쪽으로 밀어내는 기능입니다. 그래서 선 폭은 입력한 값의 두 배만큼 늘어납니다. 아주 작은 부분은 굵게 하면 서로 붙어 버리므로 먼저 지우는 것도 방법입니다.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3D 탭에서 오른쪽 위 뷰 큐브의 "위"를 누르면 위에서 본 모습이 나옵니다. 굵게 하기 전에는 선이 머리카락처럼 가늘고, 굵게 한 뒤에는 또렷하게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활동은 글자입니다. 우리 땅 독도를 키캡에 새겨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텍스트 탭을 누르고 "독도"를 입력합니다. 기본 폰트는 한글이 들어 있는 Noto Sans KR Bold입니다.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그림에서는 두께 + 를 썼지만, 글자는 최소 획 폭 칸에 0.8을 넣으면 됩니다. 이미 굵은 획은 그대로 두고 가는 획만 굵어집니다.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채우기 도구로 글자를 누르면 그 글자의 색이 바뀝니다. 3MF로 저장하면 검정·파랑이 따로 나뉘어 다색 프린터에서 색을 지정할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완성 파일은 3MF로 저장합니다. 스템 구멍은 프린터마다 조금씩 달라서 첫 출력 뒤 공차를 조절해야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스스로 점검하게 하세요. 빨간 표시를 모두 없애기 어렵다면 가장 중요한 선이 0.4mm 이상인지만 확인해도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오른쪽 아래 ? 버튼을 누르면 사용법과 단축키를 언제든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완성한 파일로 출력해 보고, 시간이 남으면 자기 이름이나 다른 그림으로 키캡을 만들어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9D4EA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4E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SVG Forge · 나만의 키캡 만들기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나만의 키캡 만들기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4EA"/>
                </a:solidFill>
              </a:rPr>
              <a:t>SVG Forge로 그림·글자를 MX 키캡으로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1920240" cy="411480"/>
          </a:xfrm>
          <a:prstGeom prst="roundRect">
            <a:avLst>
              <a:gd name="adj" fmla="val 48889"/>
            </a:avLst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키캡 모드</a:t>
            </a:r>
            <a:endParaRPr lang="en-US" sz="1500" dirty="0"/>
          </a:p>
        </p:txBody>
      </p:sp>
      <p:pic>
        <p:nvPicPr>
          <p:cNvPr id="6" name="hero seal" descr="물개 키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4160520"/>
            <a:ext cx="2103120" cy="2103120"/>
          </a:xfrm>
          <a:prstGeom prst="rect">
            <a:avLst/>
          </a:prstGeom>
        </p:spPr>
      </p:pic>
      <p:pic>
        <p:nvPicPr>
          <p:cNvPr id="7" name="hero dokdo" descr="독도 키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16052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</a:rPr>
              <a:t>uniquelife · Claude로 제작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오늘 만들 키캡 두 개</a:t>
            </a:r>
            <a:endParaRPr lang="en-US" sz="3000" dirty="0"/>
          </a:p>
        </p:txBody>
      </p:sp>
      <p:sp>
        <p:nvSpPr>
          <p:cNvPr id="3" name="card 1"/>
          <p:cNvSpPr/>
          <p:nvPr/>
        </p:nvSpPr>
        <p:spPr>
          <a:xfrm>
            <a:off x="548640" y="1234440"/>
            <a:ext cx="5394960" cy="4846320"/>
          </a:xfrm>
          <a:prstGeom prst="roundRect">
            <a:avLst>
              <a:gd name="adj" fmla="val 2264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pic>
        <p:nvPicPr>
          <p:cNvPr id="4" name="활동 1 · 물개 그림 키캡" descr="활동 1 · 물개 그림 키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417320"/>
            <a:ext cx="2560320" cy="243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8680" y="4434840"/>
            <a:ext cx="274320" cy="274320"/>
          </a:xfrm>
          <a:prstGeom prst="ellipse">
            <a:avLst/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80160" y="431596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230"/>
                </a:solidFill>
              </a:rPr>
              <a:t>활동 1 · 물개 그림 키캡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그림을 불러와 가는 선을 굵게 다듬어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키캡 윗면에 올립니다</a:t>
            </a:r>
            <a:endParaRPr lang="en-US" sz="1500" dirty="0"/>
          </a:p>
        </p:txBody>
      </p:sp>
      <p:sp>
        <p:nvSpPr>
          <p:cNvPr id="8" name="card 2"/>
          <p:cNvSpPr/>
          <p:nvPr/>
        </p:nvSpPr>
        <p:spPr>
          <a:xfrm>
            <a:off x="6217920" y="1234440"/>
            <a:ext cx="5394960" cy="4846320"/>
          </a:xfrm>
          <a:prstGeom prst="roundRect">
            <a:avLst>
              <a:gd name="adj" fmla="val 2264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pic>
        <p:nvPicPr>
          <p:cNvPr id="9" name="활동 2 · &quot;독도&quot; 글자 키캡" descr="활동 2 · &quot;독도&quot; 글자 키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2560320" cy="243392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37960" y="4434840"/>
            <a:ext cx="274320" cy="274320"/>
          </a:xfrm>
          <a:prstGeom prst="ellipse">
            <a:avLst/>
          </a:prstGeom>
          <a:solidFill>
            <a:srgbClr val="1D5FD6"/>
          </a:solidFill>
          <a:ln w="12700">
            <a:solidFill>
              <a:srgbClr val="1D5FD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49440" y="431596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230"/>
                </a:solidFill>
              </a:rPr>
              <a:t>활동 2 · "독도" 글자 키캡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글자를 입력하고 획 폭을 맞춘 뒤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글자마다 색을 나눕니다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키캡(MX 호환) 기본 크기</a:t>
            </a:r>
            <a:endParaRPr lang="en-US" sz="3000" dirty="0"/>
          </a:p>
        </p:txBody>
      </p:sp>
      <p:sp>
        <p:nvSpPr>
          <p:cNvPr id="3" name="위에서 본 키캡 frame"/>
          <p:cNvSpPr/>
          <p:nvPr/>
        </p:nvSpPr>
        <p:spPr>
          <a:xfrm>
            <a:off x="512064" y="1247281"/>
            <a:ext cx="4553712" cy="4546318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위에서 본 키캡" descr="위에서 본 키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3857"/>
            <a:ext cx="4480560" cy="4473166"/>
          </a:xfrm>
          <a:prstGeom prst="rect">
            <a:avLst/>
          </a:prstGeom>
        </p:spPr>
      </p:pic>
      <p:sp>
        <p:nvSpPr>
          <p:cNvPr id="5" name="stat 1"/>
          <p:cNvSpPr/>
          <p:nvPr/>
        </p:nvSpPr>
        <p:spPr>
          <a:xfrm>
            <a:off x="5486400" y="137160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15000" y="1554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7048E8"/>
                </a:solidFill>
              </a:rPr>
              <a:t>18.1</a:t>
            </a:r>
            <a:pPr indent="0" marL="0">
              <a:buNone/>
            </a:pPr>
            <a:r>
              <a:rPr lang="en-US" sz="2000" b="1" dirty="0">
                <a:solidFill>
                  <a:srgbClr val="7048E8"/>
                </a:solidFill>
              </a:rPr>
              <a:t> mm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514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키캡 바닥 폭 (1u)</a:t>
            </a:r>
            <a:endParaRPr lang="en-US" sz="1500" dirty="0"/>
          </a:p>
        </p:txBody>
      </p:sp>
      <p:sp>
        <p:nvSpPr>
          <p:cNvPr id="8" name="stat 2"/>
          <p:cNvSpPr/>
          <p:nvPr/>
        </p:nvSpPr>
        <p:spPr>
          <a:xfrm>
            <a:off x="8641080" y="137160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869680" y="1554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7048E8"/>
                </a:solidFill>
              </a:rPr>
              <a:t>10.9</a:t>
            </a:r>
            <a:pPr indent="0" marL="0">
              <a:buNone/>
            </a:pPr>
            <a:r>
              <a:rPr lang="en-US" sz="2000" b="1" dirty="0">
                <a:solidFill>
                  <a:srgbClr val="7048E8"/>
                </a:solidFill>
              </a:rPr>
              <a:t> mm</a:t>
            </a:r>
            <a:endParaRPr lang="en-US" sz="5000" dirty="0"/>
          </a:p>
        </p:txBody>
      </p:sp>
      <p:sp>
        <p:nvSpPr>
          <p:cNvPr id="10" name="Text 7"/>
          <p:cNvSpPr txBox="1"/>
          <p:nvPr/>
        </p:nvSpPr>
        <p:spPr>
          <a:xfrm>
            <a:off x="8869680" y="2514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그림을 올릴 윗면</a:t>
            </a:r>
            <a:endParaRPr lang="en-US" sz="1500" dirty="0"/>
          </a:p>
        </p:txBody>
      </p:sp>
      <p:sp>
        <p:nvSpPr>
          <p:cNvPr id="11" name="stat 3"/>
          <p:cNvSpPr/>
          <p:nvPr/>
        </p:nvSpPr>
        <p:spPr>
          <a:xfrm>
            <a:off x="5486400" y="347472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3657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7048E8"/>
                </a:solidFill>
              </a:rPr>
              <a:t>9.5</a:t>
            </a:r>
            <a:pPr indent="0" marL="0">
              <a:buNone/>
            </a:pPr>
            <a:r>
              <a:rPr lang="en-US" sz="2000" b="1" dirty="0">
                <a:solidFill>
                  <a:srgbClr val="7048E8"/>
                </a:solidFill>
              </a:rPr>
              <a:t> mm</a:t>
            </a:r>
            <a:endParaRPr lang="en-US" sz="50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4617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전체 높이</a:t>
            </a:r>
            <a:endParaRPr lang="en-US" sz="1500" dirty="0"/>
          </a:p>
        </p:txBody>
      </p:sp>
      <p:sp>
        <p:nvSpPr>
          <p:cNvPr id="14" name="stat 4"/>
          <p:cNvSpPr/>
          <p:nvPr/>
        </p:nvSpPr>
        <p:spPr>
          <a:xfrm>
            <a:off x="8641080" y="347472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869680" y="3657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92A2A"/>
                </a:solidFill>
              </a:rPr>
              <a:t>0.8</a:t>
            </a:r>
            <a:pPr indent="0" marL="0">
              <a:buNone/>
            </a:pPr>
            <a:r>
              <a:rPr lang="en-US" sz="2000" b="1" dirty="0">
                <a:solidFill>
                  <a:srgbClr val="C92A2A"/>
                </a:solidFill>
              </a:rPr>
              <a:t> mm</a:t>
            </a:r>
            <a:endParaRPr lang="en-US" sz="5000" dirty="0"/>
          </a:p>
        </p:txBody>
      </p:sp>
      <p:sp>
        <p:nvSpPr>
          <p:cNvPr id="16" name="Text 13"/>
          <p:cNvSpPr txBox="1"/>
          <p:nvPr/>
        </p:nvSpPr>
        <p:spPr>
          <a:xfrm>
            <a:off x="8869680" y="4617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선·획의 최소 폭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0" y="5486400"/>
            <a:ext cx="6172200" cy="731520"/>
          </a:xfrm>
          <a:prstGeom prst="roundRect">
            <a:avLst>
              <a:gd name="adj" fmla="val 10000"/>
            </a:avLst>
          </a:prstGeom>
          <a:solidFill>
            <a:srgbClr val="EFEBFC"/>
          </a:solidFill>
          <a:ln w="12700">
            <a:solidFill>
              <a:srgbClr val="EFEBF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0" y="548640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2FA8"/>
                </a:solidFill>
              </a:rPr>
              <a:t>그림은 사방 약 10mm 안에 들어갑니다. 아주 작아지기 때문에 선을 굵게 하는 과정이 꼭 필요해요.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화면 구성 (키캡 모드)</a:t>
            </a:r>
            <a:endParaRPr lang="en-US" sz="3000" dirty="0"/>
          </a:p>
        </p:txBody>
      </p:sp>
      <p:sp>
        <p:nvSpPr>
          <p:cNvPr id="3" name="키캡 모드 화면 frame"/>
          <p:cNvSpPr/>
          <p:nvPr/>
        </p:nvSpPr>
        <p:spPr>
          <a:xfrm>
            <a:off x="512064" y="1484668"/>
            <a:ext cx="7754112" cy="4391583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키캡 모드 화면" descr="키캡 모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1244"/>
            <a:ext cx="7680960" cy="4318431"/>
          </a:xfrm>
          <a:prstGeom prst="rect">
            <a:avLst/>
          </a:prstGeom>
        </p:spPr>
      </p:pic>
      <p:sp>
        <p:nvSpPr>
          <p:cNvPr id="5" name="num 1"/>
          <p:cNvSpPr/>
          <p:nvPr/>
        </p:nvSpPr>
        <p:spPr>
          <a:xfrm>
            <a:off x="1649896" y="1492286"/>
            <a:ext cx="384048" cy="384048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9896" y="14922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num 2"/>
          <p:cNvSpPr/>
          <p:nvPr/>
        </p:nvSpPr>
        <p:spPr>
          <a:xfrm>
            <a:off x="2695766" y="1492286"/>
            <a:ext cx="384048" cy="384048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695766" y="14922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num 3"/>
          <p:cNvSpPr/>
          <p:nvPr/>
        </p:nvSpPr>
        <p:spPr>
          <a:xfrm>
            <a:off x="7104165" y="1492286"/>
            <a:ext cx="384048" cy="384048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04165" y="14922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num 4"/>
          <p:cNvSpPr/>
          <p:nvPr/>
        </p:nvSpPr>
        <p:spPr>
          <a:xfrm>
            <a:off x="1233797" y="3016108"/>
            <a:ext cx="384048" cy="384048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33797" y="30161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3" name="num 5"/>
          <p:cNvSpPr/>
          <p:nvPr/>
        </p:nvSpPr>
        <p:spPr>
          <a:xfrm>
            <a:off x="3505472" y="2037713"/>
            <a:ext cx="384048" cy="384048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05472" y="20377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5" name="num 6"/>
          <p:cNvSpPr/>
          <p:nvPr/>
        </p:nvSpPr>
        <p:spPr>
          <a:xfrm>
            <a:off x="4292686" y="3465944"/>
            <a:ext cx="384048" cy="384048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2686" y="3465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17" name="num 7"/>
          <p:cNvSpPr/>
          <p:nvPr/>
        </p:nvSpPr>
        <p:spPr>
          <a:xfrm>
            <a:off x="6991706" y="3465944"/>
            <a:ext cx="384048" cy="384048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91706" y="3465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19" name="num 8"/>
          <p:cNvSpPr/>
          <p:nvPr/>
        </p:nvSpPr>
        <p:spPr>
          <a:xfrm>
            <a:off x="4292686" y="5040372"/>
            <a:ext cx="384048" cy="384048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92686" y="50403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21" name="num 1"/>
          <p:cNvSpPr/>
          <p:nvPr/>
        </p:nvSpPr>
        <p:spPr>
          <a:xfrm>
            <a:off x="8549640" y="1271016"/>
            <a:ext cx="347472" cy="347472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9640" y="1271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06840" y="12344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입력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D6678"/>
                </a:solidFill>
              </a:rPr>
              <a:t>이미지 / 텍스트</a:t>
            </a:r>
            <a:endParaRPr lang="en-US" sz="1500" dirty="0"/>
          </a:p>
        </p:txBody>
      </p:sp>
      <p:sp>
        <p:nvSpPr>
          <p:cNvPr id="24" name="num 2"/>
          <p:cNvSpPr/>
          <p:nvPr/>
        </p:nvSpPr>
        <p:spPr>
          <a:xfrm>
            <a:off x="8549640" y="1874520"/>
            <a:ext cx="347472" cy="347472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5496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9006840" y="183794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모드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D6678"/>
                </a:solidFill>
              </a:rPr>
              <a:t>키캡 (MX 호환)</a:t>
            </a:r>
            <a:endParaRPr lang="en-US" sz="1500" dirty="0"/>
          </a:p>
        </p:txBody>
      </p:sp>
      <p:sp>
        <p:nvSpPr>
          <p:cNvPr id="27" name="num 3"/>
          <p:cNvSpPr/>
          <p:nvPr/>
        </p:nvSpPr>
        <p:spPr>
          <a:xfrm>
            <a:off x="8549640" y="2478024"/>
            <a:ext cx="347472" cy="347472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549640" y="2478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24414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저장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D6678"/>
                </a:solidFill>
              </a:rPr>
              <a:t>3MF · STL</a:t>
            </a:r>
            <a:endParaRPr lang="en-US" sz="1500" dirty="0"/>
          </a:p>
        </p:txBody>
      </p:sp>
      <p:sp>
        <p:nvSpPr>
          <p:cNvPr id="30" name="num 4"/>
          <p:cNvSpPr/>
          <p:nvPr/>
        </p:nvSpPr>
        <p:spPr>
          <a:xfrm>
            <a:off x="8549640" y="3081528"/>
            <a:ext cx="347472" cy="347472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9640" y="3081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0449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왼쪽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D6678"/>
                </a:solidFill>
              </a:rPr>
              <a:t>이미지·글자 설정</a:t>
            </a:r>
            <a:endParaRPr lang="en-US" sz="1500" dirty="0"/>
          </a:p>
        </p:txBody>
      </p:sp>
      <p:sp>
        <p:nvSpPr>
          <p:cNvPr id="33" name="num 5"/>
          <p:cNvSpPr/>
          <p:nvPr/>
        </p:nvSpPr>
        <p:spPr>
          <a:xfrm>
            <a:off x="8549640" y="3685032"/>
            <a:ext cx="347472" cy="347472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49640" y="3685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006840" y="3648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편집 도구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D6678"/>
                </a:solidFill>
              </a:rPr>
              <a:t>도형을 누르면 나타남</a:t>
            </a:r>
            <a:endParaRPr lang="en-US" sz="1500" dirty="0"/>
          </a:p>
        </p:txBody>
      </p:sp>
      <p:sp>
        <p:nvSpPr>
          <p:cNvPr id="36" name="num 6"/>
          <p:cNvSpPr/>
          <p:nvPr/>
        </p:nvSpPr>
        <p:spPr>
          <a:xfrm>
            <a:off x="8549640" y="4288536"/>
            <a:ext cx="347472" cy="347472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49640" y="4288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006840" y="42519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미리보기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D6678"/>
                </a:solidFill>
              </a:rPr>
              <a:t>2D · 3D</a:t>
            </a:r>
            <a:endParaRPr lang="en-US" sz="1500" dirty="0"/>
          </a:p>
        </p:txBody>
      </p:sp>
      <p:sp>
        <p:nvSpPr>
          <p:cNvPr id="39" name="num 7"/>
          <p:cNvSpPr/>
          <p:nvPr/>
        </p:nvSpPr>
        <p:spPr>
          <a:xfrm>
            <a:off x="8549640" y="4892040"/>
            <a:ext cx="347472" cy="347472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549640" y="4892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9006840" y="48554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키캡 설정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D6678"/>
                </a:solidFill>
              </a:rPr>
              <a:t>크기 · 글자 방식 · 스템</a:t>
            </a:r>
            <a:endParaRPr lang="en-US" sz="1500" dirty="0"/>
          </a:p>
        </p:txBody>
      </p:sp>
      <p:sp>
        <p:nvSpPr>
          <p:cNvPr id="42" name="num 8"/>
          <p:cNvSpPr/>
          <p:nvPr/>
        </p:nvSpPr>
        <p:spPr>
          <a:xfrm>
            <a:off x="8549640" y="5495544"/>
            <a:ext cx="347472" cy="347472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549640" y="5495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9006840" y="545896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안내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D6678"/>
                </a:solidFill>
              </a:rPr>
              <a:t>빨간 경고 확인!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키캡은 다섯 단계로 만듭니다</a:t>
            </a:r>
            <a:endParaRPr lang="en-US" sz="3000" dirty="0"/>
          </a:p>
        </p:txBody>
      </p:sp>
      <p:sp>
        <p:nvSpPr>
          <p:cNvPr id="3" name="step 1"/>
          <p:cNvSpPr/>
          <p:nvPr/>
        </p:nvSpPr>
        <p:spPr>
          <a:xfrm>
            <a:off x="548640" y="1554480"/>
            <a:ext cx="2057400" cy="3017520"/>
          </a:xfrm>
          <a:prstGeom prst="roundRect">
            <a:avLst>
              <a:gd name="adj" fmla="val 5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4" name="num 1"/>
          <p:cNvSpPr/>
          <p:nvPr/>
        </p:nvSpPr>
        <p:spPr>
          <a:xfrm>
            <a:off x="777240" y="1783080"/>
            <a:ext cx="603504" cy="603504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230"/>
                </a:solidFill>
              </a:rPr>
              <a:t>열기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그림 끌어다 놓기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또는 텍스트 입력</a:t>
            </a:r>
            <a:endParaRPr lang="en-US" sz="1400" dirty="0"/>
          </a:p>
        </p:txBody>
      </p:sp>
      <p:sp>
        <p:nvSpPr>
          <p:cNvPr id="8" name="arrow 1"/>
          <p:cNvSpPr/>
          <p:nvPr/>
        </p:nvSpPr>
        <p:spPr>
          <a:xfrm>
            <a:off x="2642616" y="2880360"/>
            <a:ext cx="146304" cy="329184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2816352" y="1554480"/>
            <a:ext cx="2057400" cy="3017520"/>
          </a:xfrm>
          <a:prstGeom prst="roundRect">
            <a:avLst>
              <a:gd name="adj" fmla="val 5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0" name="num 2"/>
          <p:cNvSpPr/>
          <p:nvPr/>
        </p:nvSpPr>
        <p:spPr>
          <a:xfrm>
            <a:off x="3044952" y="1783080"/>
            <a:ext cx="603504" cy="603504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44952" y="1783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2560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230"/>
                </a:solidFill>
              </a:rPr>
              <a:t>키캡 모드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3044952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모드 → 키캡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크기가 윗면에 맞춰짐</a:t>
            </a:r>
            <a:endParaRPr lang="en-US" sz="1400" dirty="0"/>
          </a:p>
        </p:txBody>
      </p:sp>
      <p:sp>
        <p:nvSpPr>
          <p:cNvPr id="14" name="arrow 2"/>
          <p:cNvSpPr/>
          <p:nvPr/>
        </p:nvSpPr>
        <p:spPr>
          <a:xfrm>
            <a:off x="4910328" y="2880360"/>
            <a:ext cx="146304" cy="329184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5084064" y="1554480"/>
            <a:ext cx="2057400" cy="3017520"/>
          </a:xfrm>
          <a:prstGeom prst="roundRect">
            <a:avLst>
              <a:gd name="adj" fmla="val 5333"/>
            </a:avLst>
          </a:prstGeom>
          <a:solidFill>
            <a:srgbClr val="FDECEC"/>
          </a:solidFill>
          <a:ln w="12700">
            <a:solidFill>
              <a:srgbClr val="F3B5B5"/>
            </a:solidFill>
            <a:prstDash val="solid"/>
          </a:ln>
        </p:spPr>
      </p:sp>
      <p:sp>
        <p:nvSpPr>
          <p:cNvPr id="16" name="num 3"/>
          <p:cNvSpPr/>
          <p:nvPr/>
        </p:nvSpPr>
        <p:spPr>
          <a:xfrm>
            <a:off x="5312664" y="1783080"/>
            <a:ext cx="603504" cy="603504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2664" y="1783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312664" y="2560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230"/>
                </a:solidFill>
              </a:rPr>
              <a:t>선 굵게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5312664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빨간 곳을 찾아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두께 + 로 굵게</a:t>
            </a:r>
            <a:endParaRPr lang="en-US" sz="1400" dirty="0"/>
          </a:p>
        </p:txBody>
      </p:sp>
      <p:sp>
        <p:nvSpPr>
          <p:cNvPr id="20" name="arrow 3"/>
          <p:cNvSpPr/>
          <p:nvPr/>
        </p:nvSpPr>
        <p:spPr>
          <a:xfrm>
            <a:off x="7178040" y="2880360"/>
            <a:ext cx="146304" cy="329184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21" name="step 4"/>
          <p:cNvSpPr/>
          <p:nvPr/>
        </p:nvSpPr>
        <p:spPr>
          <a:xfrm>
            <a:off x="7351776" y="1554480"/>
            <a:ext cx="2057400" cy="3017520"/>
          </a:xfrm>
          <a:prstGeom prst="roundRect">
            <a:avLst>
              <a:gd name="adj" fmla="val 5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2" name="num 4"/>
          <p:cNvSpPr/>
          <p:nvPr/>
        </p:nvSpPr>
        <p:spPr>
          <a:xfrm>
            <a:off x="7580376" y="1783080"/>
            <a:ext cx="603504" cy="603504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0376" y="1783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580376" y="2560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230"/>
                </a:solidFill>
              </a:rPr>
              <a:t>3D 확인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7580376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위에서 보기로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모양 확인</a:t>
            </a:r>
            <a:endParaRPr lang="en-US" sz="1400" dirty="0"/>
          </a:p>
        </p:txBody>
      </p:sp>
      <p:sp>
        <p:nvSpPr>
          <p:cNvPr id="26" name="arrow 4"/>
          <p:cNvSpPr/>
          <p:nvPr/>
        </p:nvSpPr>
        <p:spPr>
          <a:xfrm>
            <a:off x="9445752" y="2880360"/>
            <a:ext cx="146304" cy="329184"/>
          </a:xfrm>
          <a:prstGeom prst="chevron">
            <a:avLst/>
          </a:prstGeom>
          <a:solidFill>
            <a:srgbClr val="B7C0D1"/>
          </a:solidFill>
          <a:ln w="12700">
            <a:solidFill>
              <a:srgbClr val="B7C0D1"/>
            </a:solidFill>
            <a:prstDash val="solid"/>
          </a:ln>
        </p:spPr>
      </p:sp>
      <p:sp>
        <p:nvSpPr>
          <p:cNvPr id="27" name="step 5"/>
          <p:cNvSpPr/>
          <p:nvPr/>
        </p:nvSpPr>
        <p:spPr>
          <a:xfrm>
            <a:off x="9619488" y="1554480"/>
            <a:ext cx="2057400" cy="3017520"/>
          </a:xfrm>
          <a:prstGeom prst="roundRect">
            <a:avLst>
              <a:gd name="adj" fmla="val 5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8" name="num 5"/>
          <p:cNvSpPr/>
          <p:nvPr/>
        </p:nvSpPr>
        <p:spPr>
          <a:xfrm>
            <a:off x="9848088" y="1783080"/>
            <a:ext cx="603504" cy="603504"/>
          </a:xfrm>
          <a:prstGeom prst="ellipse">
            <a:avLst/>
          </a:prstGeom>
          <a:solidFill>
            <a:srgbClr val="E859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48088" y="1783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9848088" y="2560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230"/>
                </a:solidFill>
              </a:rPr>
              <a:t>3MF 저장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984808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색마다 파트로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나뉘어 저장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98348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983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1C1C"/>
                </a:solidFill>
              </a:rPr>
              <a:t>③ 선 굵게 하기가 오늘의 핵심입니다. 키캡은 아주 작아서 그대로 두면 선이 출력되지 않아요.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활동 1  물개 그림 키캡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EA"/>
                </a:solidFill>
              </a:rPr>
              <a:t>그림 열기 → 키캡 모드 → 선 굵게 → 3D 확인</a:t>
            </a:r>
            <a:endParaRPr lang="en-US" sz="1800" dirty="0"/>
          </a:p>
        </p:txBody>
      </p:sp>
      <p:pic>
        <p:nvPicPr>
          <p:cNvPr id="4" name="seal keycap" descr="물개 키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3931920"/>
            <a:ext cx="2468880" cy="2468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1. 그림 열기</a:t>
            </a:r>
            <a:endParaRPr lang="en-US" sz="3000" dirty="0"/>
          </a:p>
        </p:txBody>
      </p:sp>
      <p:sp>
        <p:nvSpPr>
          <p:cNvPr id="3" name="물개 그림을 불러온 화면 frame"/>
          <p:cNvSpPr/>
          <p:nvPr/>
        </p:nvSpPr>
        <p:spPr>
          <a:xfrm>
            <a:off x="512064" y="1414928"/>
            <a:ext cx="7296912" cy="3845263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물개 그림을 불러온 화면" descr="물개 그림을 불러온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51504"/>
            <a:ext cx="7223760" cy="3772111"/>
          </a:xfrm>
          <a:prstGeom prst="rect">
            <a:avLst/>
          </a:prstGeom>
        </p:spPr>
      </p:pic>
      <p:sp>
        <p:nvSpPr>
          <p:cNvPr id="5" name="num 1"/>
          <p:cNvSpPr/>
          <p:nvPr/>
        </p:nvSpPr>
        <p:spPr>
          <a:xfrm>
            <a:off x="8138160" y="129844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0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280160"/>
            <a:ext cx="30632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끌어다 놓기 · Ctrl+V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이미지 열기… 버튼도 가능</a:t>
            </a:r>
            <a:endParaRPr lang="en-US" sz="1500" dirty="0"/>
          </a:p>
        </p:txBody>
      </p:sp>
      <p:sp>
        <p:nvSpPr>
          <p:cNvPr id="8" name="num 2"/>
          <p:cNvSpPr/>
          <p:nvPr/>
        </p:nvSpPr>
        <p:spPr>
          <a:xfrm>
            <a:off x="8138160" y="225856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2240280"/>
            <a:ext cx="30632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색 수 자동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물개는 3색 → 테두리 · 몸통 2색</a:t>
            </a:r>
            <a:endParaRPr lang="en-US" sz="1500" dirty="0"/>
          </a:p>
        </p:txBody>
      </p:sp>
      <p:sp>
        <p:nvSpPr>
          <p:cNvPr id="11" name="num 3"/>
          <p:cNvSpPr/>
          <p:nvPr/>
        </p:nvSpPr>
        <p:spPr>
          <a:xfrm>
            <a:off x="8138160" y="321868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0" y="3218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3200400"/>
            <a:ext cx="30632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배경 자동 제거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흰 바탕은 지워짐</a:t>
            </a:r>
            <a:endParaRPr lang="en-US" sz="1500" dirty="0"/>
          </a:p>
        </p:txBody>
      </p:sp>
      <p:sp>
        <p:nvSpPr>
          <p:cNvPr id="14" name="num 4"/>
          <p:cNvSpPr/>
          <p:nvPr/>
        </p:nvSpPr>
        <p:spPr>
          <a:xfrm>
            <a:off x="8138160" y="417880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38160" y="4178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41080" y="4160520"/>
            <a:ext cx="30632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아래 색 칸 확인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■ 진한 회색 = 선  ■ 연한 회색 = 몸통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62356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E8F0FD"/>
          </a:solidFill>
          <a:ln w="12700">
            <a:solidFill>
              <a:srgbClr val="E8F0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56235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3557"/>
                </a:solidFill>
              </a:rPr>
              <a:t>선과 면의 색이 뚜렷한 그림이 키캡에 잘 맞아요.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2. 키캡 모드 켜기</a:t>
            </a:r>
            <a:endParaRPr lang="en-US" sz="3000" dirty="0"/>
          </a:p>
        </p:txBody>
      </p:sp>
      <p:sp>
        <p:nvSpPr>
          <p:cNvPr id="3" name="키캡 모드 3D frame"/>
          <p:cNvSpPr/>
          <p:nvPr/>
        </p:nvSpPr>
        <p:spPr>
          <a:xfrm>
            <a:off x="512064" y="1212411"/>
            <a:ext cx="6473952" cy="4296017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키캡 모드 3D" descr="키캡 모드 3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8987"/>
            <a:ext cx="6400800" cy="4222865"/>
          </a:xfrm>
          <a:prstGeom prst="rect">
            <a:avLst/>
          </a:prstGeom>
        </p:spPr>
      </p:pic>
      <p:sp>
        <p:nvSpPr>
          <p:cNvPr id="5" name="num 1"/>
          <p:cNvSpPr/>
          <p:nvPr/>
        </p:nvSpPr>
        <p:spPr>
          <a:xfrm>
            <a:off x="7315200" y="129844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0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280160"/>
            <a:ext cx="3886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모드 → 키캡 (MX 호환)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위쪽 모드 칸에서 선택</a:t>
            </a:r>
            <a:endParaRPr lang="en-US" sz="1500" dirty="0"/>
          </a:p>
        </p:txBody>
      </p:sp>
      <p:sp>
        <p:nvSpPr>
          <p:cNvPr id="8" name="num 2"/>
          <p:cNvSpPr/>
          <p:nvPr/>
        </p:nvSpPr>
        <p:spPr>
          <a:xfrm>
            <a:off x="7315200" y="225856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240280"/>
            <a:ext cx="3886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너비가 자동으로 9mm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윗면(10.9mm)에 맞게 줄어듦</a:t>
            </a:r>
            <a:endParaRPr lang="en-US" sz="1500" dirty="0"/>
          </a:p>
        </p:txBody>
      </p:sp>
      <p:sp>
        <p:nvSpPr>
          <p:cNvPr id="11" name="num 3"/>
          <p:cNvSpPr/>
          <p:nvPr/>
        </p:nvSpPr>
        <p:spPr>
          <a:xfrm>
            <a:off x="7315200" y="321868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0" y="3218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3200400"/>
            <a:ext cx="3886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크기 1u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1.25u · 2u … 스페이스바까지</a:t>
            </a:r>
            <a:endParaRPr lang="en-US" sz="1500" dirty="0"/>
          </a:p>
        </p:txBody>
      </p:sp>
      <p:sp>
        <p:nvSpPr>
          <p:cNvPr id="14" name="num 4"/>
          <p:cNvSpPr/>
          <p:nvPr/>
        </p:nvSpPr>
        <p:spPr>
          <a:xfrm>
            <a:off x="7315200" y="417880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0" y="4178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160520"/>
            <a:ext cx="3886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글자 방식 돋을(볼록)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새김 · 상감도 가능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66928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FEBFC"/>
          </a:solidFill>
          <a:ln w="12700">
            <a:solidFill>
              <a:srgbClr val="EFEBF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2FA8"/>
                </a:solidFill>
              </a:rPr>
              <a:t>3D 화면을 끌어 돌려 보세요. 아직은 선이 너무 가늘어 거의 보이지 않아요.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3. 빨간 곳 = 너무 가는 선</a:t>
            </a:r>
            <a:endParaRPr lang="en-US" sz="3000" dirty="0"/>
          </a:p>
        </p:txBody>
      </p:sp>
      <p:sp>
        <p:nvSpPr>
          <p:cNvPr id="3" name="가는 부분 빨간 표시 frame"/>
          <p:cNvSpPr/>
          <p:nvPr/>
        </p:nvSpPr>
        <p:spPr>
          <a:xfrm>
            <a:off x="546559" y="1197864"/>
            <a:ext cx="5764881" cy="5010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가는 부분 빨간 표시" descr="가는 부분 빨간 표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135" y="1234440"/>
            <a:ext cx="5691729" cy="4937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76656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지금 선 폭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92A2A"/>
                </a:solidFill>
              </a:rPr>
              <a:t>0.05</a:t>
            </a:r>
            <a:pPr indent="0" marL="0">
              <a:buNone/>
            </a:pPr>
            <a:r>
              <a:rPr lang="en-US" sz="2000" b="1" dirty="0">
                <a:solidFill>
                  <a:srgbClr val="C92A2A"/>
                </a:solidFill>
              </a:rPr>
              <a:t> mm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9326880" y="1325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필요한 선 폭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32688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CA678"/>
                </a:solidFill>
              </a:rPr>
              <a:t>0.8</a:t>
            </a:r>
            <a:pPr indent="0" marL="0">
              <a:buNone/>
            </a:pPr>
            <a:r>
              <a:rPr lang="en-US" sz="2000" b="1" dirty="0">
                <a:solidFill>
                  <a:srgbClr val="0CA678"/>
                </a:solidFill>
              </a:rPr>
              <a:t> mm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9326880" y="2560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8"/>
                </a:solidFill>
              </a:rPr>
              <a:t>노즐 0.4mm 두 줄</a:t>
            </a:r>
            <a:endParaRPr lang="en-US" sz="1200" dirty="0"/>
          </a:p>
        </p:txBody>
      </p:sp>
      <p:sp>
        <p:nvSpPr>
          <p:cNvPr id="10" name="num 1"/>
          <p:cNvSpPr/>
          <p:nvPr/>
        </p:nvSpPr>
        <p:spPr>
          <a:xfrm>
            <a:off x="6766560" y="3218688"/>
            <a:ext cx="347472" cy="347472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3218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3200400"/>
            <a:ext cx="4434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그림을 10mm로 줄였기 때문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50mm일 때 0.25mm 선 → 9mm면 0.05mm</a:t>
            </a:r>
            <a:endParaRPr lang="en-US" sz="1500" dirty="0"/>
          </a:p>
        </p:txBody>
      </p:sp>
      <p:sp>
        <p:nvSpPr>
          <p:cNvPr id="13" name="num 2"/>
          <p:cNvSpPr/>
          <p:nvPr/>
        </p:nvSpPr>
        <p:spPr>
          <a:xfrm>
            <a:off x="6766560" y="4087368"/>
            <a:ext cx="347472" cy="347472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4087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4069080"/>
            <a:ext cx="4434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빨간 표시가 알려 줘요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⚠ 가는 부분 버튼으로 켜고 끄기</a:t>
            </a:r>
            <a:endParaRPr lang="en-US" sz="1500" dirty="0"/>
          </a:p>
        </p:txBody>
      </p:sp>
      <p:sp>
        <p:nvSpPr>
          <p:cNvPr id="16" name="num 3"/>
          <p:cNvSpPr/>
          <p:nvPr/>
        </p:nvSpPr>
        <p:spPr>
          <a:xfrm>
            <a:off x="6766560" y="4956048"/>
            <a:ext cx="347472" cy="347472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269480" y="4937760"/>
            <a:ext cx="44348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그대로 출력하면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선이 안 나오거나 끊어져요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4. 선 굵게 하기 ★</a:t>
            </a:r>
            <a:endParaRPr lang="en-US" sz="3000" dirty="0"/>
          </a:p>
        </p:txBody>
      </p:sp>
      <p:sp>
        <p:nvSpPr>
          <p:cNvPr id="3" name="편집 도구 frame"/>
          <p:cNvSpPr/>
          <p:nvPr/>
        </p:nvSpPr>
        <p:spPr>
          <a:xfrm>
            <a:off x="512064" y="1787177"/>
            <a:ext cx="6748272" cy="723326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편집 도구" descr="편집 도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3753"/>
            <a:ext cx="6675120" cy="650174"/>
          </a:xfrm>
          <a:prstGeom prst="rect">
            <a:avLst/>
          </a:prstGeom>
        </p:spPr>
      </p:pic>
      <p:sp>
        <p:nvSpPr>
          <p:cNvPr id="5" name="num 1"/>
          <p:cNvSpPr/>
          <p:nvPr/>
        </p:nvSpPr>
        <p:spPr>
          <a:xfrm>
            <a:off x="972589" y="1412273"/>
            <a:ext cx="365760" cy="365760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2589" y="14122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num 2"/>
          <p:cNvSpPr/>
          <p:nvPr/>
        </p:nvSpPr>
        <p:spPr>
          <a:xfrm>
            <a:off x="3963390" y="1412273"/>
            <a:ext cx="365760" cy="365760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63390" y="14122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num 3"/>
          <p:cNvSpPr/>
          <p:nvPr/>
        </p:nvSpPr>
        <p:spPr>
          <a:xfrm>
            <a:off x="1015934" y="2537935"/>
            <a:ext cx="365760" cy="365760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5934" y="25379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num 4"/>
          <p:cNvSpPr/>
          <p:nvPr/>
        </p:nvSpPr>
        <p:spPr>
          <a:xfrm>
            <a:off x="1700784" y="2537935"/>
            <a:ext cx="365760" cy="365760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00784" y="25379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3" name="선택된 물개 테두리 frame"/>
          <p:cNvSpPr/>
          <p:nvPr/>
        </p:nvSpPr>
        <p:spPr>
          <a:xfrm>
            <a:off x="1238771" y="3209544"/>
            <a:ext cx="5294857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4" name="선택된 물개 테두리" descr="선택된 물개 테두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347" y="3246120"/>
            <a:ext cx="5221705" cy="2834640"/>
          </a:xfrm>
          <a:prstGeom prst="rect">
            <a:avLst/>
          </a:prstGeom>
        </p:spPr>
      </p:pic>
      <p:sp>
        <p:nvSpPr>
          <p:cNvPr id="15" name="num 1"/>
          <p:cNvSpPr/>
          <p:nvPr/>
        </p:nvSpPr>
        <p:spPr>
          <a:xfrm>
            <a:off x="7589520" y="1298448"/>
            <a:ext cx="347472" cy="347472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89520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1280160"/>
            <a:ext cx="36118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C2230"/>
                </a:solidFill>
              </a:rPr>
              <a:t>선 클릭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D6678"/>
                </a:solidFill>
              </a:rPr>
              <a:t>진한 테두리 선을 누르면 파랗게 선택</a:t>
            </a:r>
            <a:endParaRPr lang="en-US" sz="1600" dirty="0"/>
          </a:p>
        </p:txBody>
      </p:sp>
      <p:sp>
        <p:nvSpPr>
          <p:cNvPr id="18" name="num 2"/>
          <p:cNvSpPr/>
          <p:nvPr/>
        </p:nvSpPr>
        <p:spPr>
          <a:xfrm>
            <a:off x="7589520" y="2258568"/>
            <a:ext cx="347472" cy="347472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8092440" y="2240280"/>
            <a:ext cx="36118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C2230"/>
                </a:solidFill>
              </a:rPr>
              <a:t>범위 → 이 색 전체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D6678"/>
                </a:solidFill>
              </a:rPr>
              <a:t>같은 색 선을 한꺼번에</a:t>
            </a:r>
            <a:endParaRPr lang="en-US" sz="1600" dirty="0"/>
          </a:p>
        </p:txBody>
      </p:sp>
      <p:sp>
        <p:nvSpPr>
          <p:cNvPr id="21" name="num 3"/>
          <p:cNvSpPr/>
          <p:nvPr/>
        </p:nvSpPr>
        <p:spPr>
          <a:xfrm>
            <a:off x="7589520" y="3218688"/>
            <a:ext cx="347472" cy="347472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589520" y="3218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3200400"/>
            <a:ext cx="36118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C2230"/>
                </a:solidFill>
              </a:rPr>
              <a:t>두께 칸 0.2 (mm)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D6678"/>
                </a:solidFill>
              </a:rPr>
              <a:t>한 번 누를 때 늘어나는 양</a:t>
            </a:r>
            <a:endParaRPr lang="en-US" sz="1600" dirty="0"/>
          </a:p>
        </p:txBody>
      </p:sp>
      <p:sp>
        <p:nvSpPr>
          <p:cNvPr id="24" name="num 4"/>
          <p:cNvSpPr/>
          <p:nvPr/>
        </p:nvSpPr>
        <p:spPr>
          <a:xfrm>
            <a:off x="7589520" y="4178808"/>
            <a:ext cx="347472" cy="347472"/>
          </a:xfrm>
          <a:prstGeom prst="ellipse">
            <a:avLst/>
          </a:prstGeom>
          <a:solidFill>
            <a:srgbClr val="C92A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589520" y="4178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092440" y="4160520"/>
            <a:ext cx="36118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C2230"/>
                </a:solidFill>
              </a:rPr>
              <a:t>+ 누르기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D6678"/>
                </a:solidFill>
              </a:rPr>
              <a:t>양쪽으로 0.2씩 → 선 폭 +0.4mm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589520" y="525780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72400" y="5257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1C1C"/>
                </a:solidFill>
              </a:rPr>
              <a:t>− 를 누르면 다시 가늘어지고, Ctrl+Z로 처음으로 돌아갑니다.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몇 번 누를까? 결과 비교</a:t>
            </a:r>
            <a:endParaRPr lang="en-US" sz="3000" dirty="0"/>
          </a:p>
        </p:txBody>
      </p:sp>
      <p:sp>
        <p:nvSpPr>
          <p:cNvPr id="3" name="그대로 frame"/>
          <p:cNvSpPr/>
          <p:nvPr/>
        </p:nvSpPr>
        <p:spPr>
          <a:xfrm>
            <a:off x="512064" y="1540764"/>
            <a:ext cx="3593592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그대로" descr="그대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7340"/>
            <a:ext cx="3520440" cy="2103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206240"/>
            <a:ext cx="3520440" cy="457200"/>
          </a:xfrm>
          <a:prstGeom prst="roundRect">
            <a:avLst>
              <a:gd name="adj" fmla="val 50000"/>
            </a:avLst>
          </a:prstGeom>
          <a:solidFill>
            <a:srgbClr val="C92A2A"/>
          </a:solidFill>
          <a:ln w="12700">
            <a:solidFill>
              <a:srgbClr val="C92A2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206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그대로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선 약 0.05mm — 출력 안 됨</a:t>
            </a:r>
            <a:endParaRPr lang="en-US" sz="1400" dirty="0"/>
          </a:p>
        </p:txBody>
      </p:sp>
      <p:sp>
        <p:nvSpPr>
          <p:cNvPr id="8" name="+ 한 번 (0.2) frame"/>
          <p:cNvSpPr/>
          <p:nvPr/>
        </p:nvSpPr>
        <p:spPr>
          <a:xfrm>
            <a:off x="4261104" y="1540764"/>
            <a:ext cx="3593592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+ 한 번 (0.2)" descr="+ 한 번 (0.2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577340"/>
            <a:ext cx="3520440" cy="21031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297680" y="4206240"/>
            <a:ext cx="3520440" cy="4572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 w="12700">
            <a:solidFill>
              <a:srgbClr val="0CA67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297680" y="4206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+ 한 번 (0.2)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47548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선 약 0.45mm — 물개 모양 유지</a:t>
            </a:r>
            <a:endParaRPr lang="en-US" sz="1400" dirty="0"/>
          </a:p>
        </p:txBody>
      </p:sp>
      <p:sp>
        <p:nvSpPr>
          <p:cNvPr id="13" name="+ 두 번 (0.4) frame"/>
          <p:cNvSpPr/>
          <p:nvPr/>
        </p:nvSpPr>
        <p:spPr>
          <a:xfrm>
            <a:off x="8010144" y="1540764"/>
            <a:ext cx="3593592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14" name="+ 두 번 (0.4)" descr="+ 두 번 (0.4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77340"/>
            <a:ext cx="3520440" cy="21031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46720" y="4206240"/>
            <a:ext cx="3520440" cy="4572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420624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+ 두 번 (0.4)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47548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선 약 0.85mm — 얼굴이 뭉개짐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544068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E6F6F0"/>
          </a:solidFill>
          <a:ln w="12700">
            <a:solidFill>
              <a:srgbClr val="E6F6F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6B4F"/>
                </a:solidFill>
              </a:rPr>
              <a:t>정답은 하나가 아니에요. 모양과 출력 사이에서 알맞은 굵기를 고르는 것이 이 활동의 핵심입니다.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두께 조절의 원리와 팁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원래 선</a:t>
            </a:r>
            <a:endParaRPr lang="en-US" sz="1500" dirty="0"/>
          </a:p>
        </p:txBody>
      </p:sp>
      <p:sp>
        <p:nvSpPr>
          <p:cNvPr id="4" name="thin line"/>
          <p:cNvSpPr/>
          <p:nvPr/>
        </p:nvSpPr>
        <p:spPr>
          <a:xfrm>
            <a:off x="548640" y="1874520"/>
            <a:ext cx="4937760" cy="109728"/>
          </a:xfrm>
          <a:prstGeom prst="rect">
            <a:avLst/>
          </a:prstGeom>
          <a:solidFill>
            <a:srgbClr val="5D5D5D"/>
          </a:solidFill>
          <a:ln w="12700">
            <a:solidFill>
              <a:srgbClr val="5D5D5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</a:rPr>
              <a:t>+ 0.2 한 번</a:t>
            </a:r>
            <a:endParaRPr lang="en-US" sz="1500" dirty="0"/>
          </a:p>
        </p:txBody>
      </p:sp>
      <p:sp>
        <p:nvSpPr>
          <p:cNvPr id="6" name="grown area"/>
          <p:cNvSpPr/>
          <p:nvPr/>
        </p:nvSpPr>
        <p:spPr>
          <a:xfrm>
            <a:off x="548640" y="2834640"/>
            <a:ext cx="4937760" cy="822960"/>
          </a:xfrm>
          <a:prstGeom prst="rect">
            <a:avLst/>
          </a:prstGeom>
          <a:solidFill>
            <a:srgbClr val="B9C2D0"/>
          </a:solidFill>
          <a:ln w="12700">
            <a:solidFill>
              <a:srgbClr val="B9C2D0"/>
            </a:solidFill>
            <a:prstDash val="solid"/>
          </a:ln>
        </p:spPr>
      </p:sp>
      <p:sp>
        <p:nvSpPr>
          <p:cNvPr id="7" name="thin line 2"/>
          <p:cNvSpPr/>
          <p:nvPr/>
        </p:nvSpPr>
        <p:spPr>
          <a:xfrm>
            <a:off x="548640" y="3191256"/>
            <a:ext cx="4937760" cy="109728"/>
          </a:xfrm>
          <a:prstGeom prst="rect">
            <a:avLst/>
          </a:prstGeom>
          <a:solidFill>
            <a:srgbClr val="5D5D5D"/>
          </a:solidFill>
          <a:ln w="12700">
            <a:solidFill>
              <a:srgbClr val="5D5D5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23560" y="27889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2A2A"/>
                </a:solidFill>
              </a:rPr>
              <a:t>0.2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33101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2A2A"/>
                </a:solidFill>
              </a:rPr>
              <a:t>0.2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8"/>
                </a:solidFill>
              </a:rPr>
              <a:t>양쪽으로 0.2mm씩 → 선 폭은 0.4mm 늘어나요</a:t>
            </a:r>
            <a:endParaRPr lang="en-US" sz="1500" dirty="0"/>
          </a:p>
        </p:txBody>
      </p:sp>
      <p:sp>
        <p:nvSpPr>
          <p:cNvPr id="11" name="num 1"/>
          <p:cNvSpPr/>
          <p:nvPr/>
        </p:nvSpPr>
        <p:spPr>
          <a:xfrm>
            <a:off x="6675120" y="134416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1344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325880"/>
            <a:ext cx="45262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수염·눈처럼 아주 작은 부분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선택해서 Delete로 지우면 뭉개짐이 줄어요</a:t>
            </a:r>
            <a:endParaRPr lang="en-US" sz="1500" dirty="0"/>
          </a:p>
        </p:txBody>
      </p:sp>
      <p:sp>
        <p:nvSpPr>
          <p:cNvPr id="14" name="num 2"/>
          <p:cNvSpPr/>
          <p:nvPr/>
        </p:nvSpPr>
        <p:spPr>
          <a:xfrm>
            <a:off x="6675120" y="239572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2377440"/>
            <a:ext cx="45262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이 도형만 / 이 색 전체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범위를 바꿔 필요한 선만 굵게</a:t>
            </a:r>
            <a:endParaRPr lang="en-US" sz="1500" dirty="0"/>
          </a:p>
        </p:txBody>
      </p:sp>
      <p:sp>
        <p:nvSpPr>
          <p:cNvPr id="17" name="num 3"/>
          <p:cNvSpPr/>
          <p:nvPr/>
        </p:nvSpPr>
        <p:spPr>
          <a:xfrm>
            <a:off x="6675120" y="344728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178040" y="3429000"/>
            <a:ext cx="45262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가는 부분 보정 (0.8mm) 버튼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경고 옆 버튼 — 가는 곳만 자동으로</a:t>
            </a:r>
            <a:endParaRPr lang="en-US" sz="1500" dirty="0"/>
          </a:p>
        </p:txBody>
      </p:sp>
      <p:sp>
        <p:nvSpPr>
          <p:cNvPr id="20" name="num 4"/>
          <p:cNvSpPr/>
          <p:nvPr/>
        </p:nvSpPr>
        <p:spPr>
          <a:xfrm>
            <a:off x="6675120" y="449884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4498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4480560"/>
            <a:ext cx="452628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더 크게 만들기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2u 키캡이면 그림을 더 크게 올릴 수 있어요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34924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FEBFC"/>
          </a:solidFill>
          <a:ln w="12700">
            <a:solidFill>
              <a:srgbClr val="EFEBF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2FA8"/>
                </a:solidFill>
              </a:rPr>
              <a:t>두께는 그림 크기와 상관없는 실제 mm 값입니다. 너비를 바꾸기 전에 굵기를 정하면 헷갈리지 않아요.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5. 3D로 확인하기</a:t>
            </a:r>
            <a:endParaRPr lang="en-US" sz="3000" dirty="0"/>
          </a:p>
        </p:txBody>
      </p:sp>
      <p:sp>
        <p:nvSpPr>
          <p:cNvPr id="3" name="굵게 하기 전 frame"/>
          <p:cNvSpPr/>
          <p:nvPr/>
        </p:nvSpPr>
        <p:spPr>
          <a:xfrm>
            <a:off x="512064" y="1246526"/>
            <a:ext cx="3639312" cy="3633427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굵게 하기 전" descr="굵게 하기 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3102"/>
            <a:ext cx="3566160" cy="3560275"/>
          </a:xfrm>
          <a:prstGeom prst="rect">
            <a:avLst/>
          </a:prstGeom>
        </p:spPr>
      </p:pic>
      <p:sp>
        <p:nvSpPr>
          <p:cNvPr id="5" name="굵게 한 뒤 frame"/>
          <p:cNvSpPr/>
          <p:nvPr/>
        </p:nvSpPr>
        <p:spPr>
          <a:xfrm>
            <a:off x="4398264" y="1246526"/>
            <a:ext cx="3639312" cy="3633427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굵게 한 뒤" descr="굵게 한 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283102"/>
            <a:ext cx="3566160" cy="35602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83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2A2A"/>
                </a:solidFill>
              </a:rPr>
              <a:t>굵게 하기 전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434840" y="4983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A678"/>
                </a:solidFill>
              </a:rPr>
              <a:t>+ 한 번 뒤</a:t>
            </a:r>
            <a:endParaRPr lang="en-US" sz="1500" dirty="0"/>
          </a:p>
        </p:txBody>
      </p:sp>
      <p:sp>
        <p:nvSpPr>
          <p:cNvPr id="9" name="num 1"/>
          <p:cNvSpPr/>
          <p:nvPr/>
        </p:nvSpPr>
        <p:spPr>
          <a:xfrm>
            <a:off x="8321040" y="1344168"/>
            <a:ext cx="347472" cy="347472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321040" y="1344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1325880"/>
            <a:ext cx="2880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뷰 큐브의 "위"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위에서 본 모양 확인</a:t>
            </a:r>
            <a:endParaRPr lang="en-US" sz="1500" dirty="0"/>
          </a:p>
        </p:txBody>
      </p:sp>
      <p:sp>
        <p:nvSpPr>
          <p:cNvPr id="12" name="num 2"/>
          <p:cNvSpPr/>
          <p:nvPr/>
        </p:nvSpPr>
        <p:spPr>
          <a:xfrm>
            <a:off x="8321040" y="2258568"/>
            <a:ext cx="347472" cy="347472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32104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23960" y="2240280"/>
            <a:ext cx="2880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숫자 라벨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+0.5 = 윗면보다 0.5mm 볼록</a:t>
            </a:r>
            <a:endParaRPr lang="en-US" sz="1500" dirty="0"/>
          </a:p>
        </p:txBody>
      </p:sp>
      <p:sp>
        <p:nvSpPr>
          <p:cNvPr id="15" name="num 3"/>
          <p:cNvSpPr/>
          <p:nvPr/>
        </p:nvSpPr>
        <p:spPr>
          <a:xfrm>
            <a:off x="8321040" y="3172968"/>
            <a:ext cx="347472" cy="347472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321040" y="3172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154680"/>
            <a:ext cx="2880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윗모서리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모깎기 0.8mm (기본)</a:t>
            </a:r>
            <a:endParaRPr lang="en-US" sz="1500" dirty="0"/>
          </a:p>
        </p:txBody>
      </p:sp>
      <p:sp>
        <p:nvSpPr>
          <p:cNvPr id="18" name="num 4"/>
          <p:cNvSpPr/>
          <p:nvPr/>
        </p:nvSpPr>
        <p:spPr>
          <a:xfrm>
            <a:off x="8321040" y="4087368"/>
            <a:ext cx="347472" cy="347472"/>
          </a:xfrm>
          <a:prstGeom prst="ellipse">
            <a:avLst/>
          </a:prstGeom>
          <a:solidFill>
            <a:srgbClr val="0CA6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21040" y="4087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8823960" y="4069080"/>
            <a:ext cx="2880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스템 공차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헐거우면 −, 빡빡하면 +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활동 2  "독도" 글자 키캡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EA"/>
                </a:solidFill>
              </a:rPr>
              <a:t>텍스트 입력 → 키캡 모드 → 최소 획 폭 → 글자 색 나누기</a:t>
            </a:r>
            <a:endParaRPr lang="en-US" sz="1800" dirty="0"/>
          </a:p>
        </p:txBody>
      </p:sp>
      <p:pic>
        <p:nvPicPr>
          <p:cNvPr id="4" name="dokdo keycap" descr="독도 키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3931920"/>
            <a:ext cx="2468880" cy="2468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1. "독도" 입력하기</a:t>
            </a:r>
            <a:endParaRPr lang="en-US" sz="3000" dirty="0"/>
          </a:p>
        </p:txBody>
      </p:sp>
      <p:sp>
        <p:nvSpPr>
          <p:cNvPr id="3" name="텍스트 모드 frame"/>
          <p:cNvSpPr/>
          <p:nvPr/>
        </p:nvSpPr>
        <p:spPr>
          <a:xfrm>
            <a:off x="512064" y="1414928"/>
            <a:ext cx="7296912" cy="3845263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텍스트 모드" descr="텍스트 모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51504"/>
            <a:ext cx="7223760" cy="3772111"/>
          </a:xfrm>
          <a:prstGeom prst="rect">
            <a:avLst/>
          </a:prstGeom>
        </p:spPr>
      </p:pic>
      <p:sp>
        <p:nvSpPr>
          <p:cNvPr id="5" name="num 1"/>
          <p:cNvSpPr/>
          <p:nvPr/>
        </p:nvSpPr>
        <p:spPr>
          <a:xfrm>
            <a:off x="8138160" y="129844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0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280160"/>
            <a:ext cx="30632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위쪽 [텍스트] 탭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이미지 대신 글자로 만들기</a:t>
            </a:r>
            <a:endParaRPr lang="en-US" sz="1500" dirty="0"/>
          </a:p>
        </p:txBody>
      </p:sp>
      <p:sp>
        <p:nvSpPr>
          <p:cNvPr id="8" name="num 2"/>
          <p:cNvSpPr/>
          <p:nvPr/>
        </p:nvSpPr>
        <p:spPr>
          <a:xfrm>
            <a:off x="8138160" y="225856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2240280"/>
            <a:ext cx="30632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글자 칸에 독도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여러 줄도 가능</a:t>
            </a:r>
            <a:endParaRPr lang="en-US" sz="1500" dirty="0"/>
          </a:p>
        </p:txBody>
      </p:sp>
      <p:sp>
        <p:nvSpPr>
          <p:cNvPr id="11" name="num 3"/>
          <p:cNvSpPr/>
          <p:nvPr/>
        </p:nvSpPr>
        <p:spPr>
          <a:xfrm>
            <a:off x="8138160" y="321868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0" y="3218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3200400"/>
            <a:ext cx="30632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[한] 폰트 고르기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파란 [한] = 한글이 있는 폰트</a:t>
            </a:r>
            <a:endParaRPr lang="en-US" sz="1500" dirty="0"/>
          </a:p>
        </p:txBody>
      </p:sp>
      <p:sp>
        <p:nvSpPr>
          <p:cNvPr id="14" name="num 4"/>
          <p:cNvSpPr/>
          <p:nvPr/>
        </p:nvSpPr>
        <p:spPr>
          <a:xfrm>
            <a:off x="8138160" y="417880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38160" y="4178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41080" y="4160520"/>
            <a:ext cx="30632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굵은 폰트가 유리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획이 굵을수록 키캡에 잘 나와요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62356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E8F0FD"/>
          </a:solidFill>
          <a:ln w="12700">
            <a:solidFill>
              <a:srgbClr val="E8F0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56235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3557"/>
                </a:solidFill>
              </a:rPr>
              <a:t>크롬·엣지에서는 "설치된 폰트…"로 내 컴퓨터 폰트도 쓸 수 있어요.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2. 키캡 모드 + 최소 획 폭 0.8</a:t>
            </a:r>
            <a:endParaRPr lang="en-US" sz="3000" dirty="0"/>
          </a:p>
        </p:txBody>
      </p:sp>
      <p:sp>
        <p:nvSpPr>
          <p:cNvPr id="3" name="획이 가는 상태 frame"/>
          <p:cNvSpPr/>
          <p:nvPr/>
        </p:nvSpPr>
        <p:spPr>
          <a:xfrm>
            <a:off x="524463" y="1243584"/>
            <a:ext cx="5443315" cy="4187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획이 가는 상태" descr="획이 가는 상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039" y="1280160"/>
            <a:ext cx="5370163" cy="4114800"/>
          </a:xfrm>
          <a:prstGeom prst="rect">
            <a:avLst/>
          </a:prstGeom>
        </p:spPr>
      </p:pic>
      <p:sp>
        <p:nvSpPr>
          <p:cNvPr id="5" name="최소 획 폭 0.8 적용 frame"/>
          <p:cNvSpPr/>
          <p:nvPr/>
        </p:nvSpPr>
        <p:spPr>
          <a:xfrm>
            <a:off x="6227064" y="1252331"/>
            <a:ext cx="5468112" cy="2890298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최소 획 폭 0.8 적용" descr="최소 획 폭 0.8 적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88907"/>
            <a:ext cx="5394960" cy="281714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53212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2A2A"/>
                </a:solidFill>
              </a:rPr>
              <a:t>키캡 모드 → 9mm로 줄면 획이 빨갛게</a:t>
            </a:r>
            <a:endParaRPr lang="en-US" sz="1500" dirty="0"/>
          </a:p>
        </p:txBody>
      </p:sp>
      <p:sp>
        <p:nvSpPr>
          <p:cNvPr id="8" name="num 1"/>
          <p:cNvSpPr/>
          <p:nvPr/>
        </p:nvSpPr>
        <p:spPr>
          <a:xfrm>
            <a:off x="6263640" y="436168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263640" y="4361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766560" y="4343400"/>
            <a:ext cx="48920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왼쪽 배치 → 최소 획 폭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0.8 입력 (또는 경고 옆 [획 폭 0.8mm로])</a:t>
            </a:r>
            <a:endParaRPr lang="en-US" sz="1500" dirty="0"/>
          </a:p>
        </p:txBody>
      </p:sp>
      <p:sp>
        <p:nvSpPr>
          <p:cNvPr id="11" name="num 2"/>
          <p:cNvSpPr/>
          <p:nvPr/>
        </p:nvSpPr>
        <p:spPr>
          <a:xfrm>
            <a:off x="6263640" y="5138928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63640" y="5138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766560" y="5120640"/>
            <a:ext cx="48920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가는 획만 굵어짐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"지금 획: 보통 · 가장 가는 곳" 확인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3. 🪣 채우기로 글자 색 나누기</a:t>
            </a:r>
            <a:endParaRPr lang="en-US" sz="3000" dirty="0"/>
          </a:p>
        </p:txBody>
      </p:sp>
      <p:sp>
        <p:nvSpPr>
          <p:cNvPr id="3" name="글자 색 바꾸기 frame"/>
          <p:cNvSpPr/>
          <p:nvPr/>
        </p:nvSpPr>
        <p:spPr>
          <a:xfrm>
            <a:off x="512064" y="1292867"/>
            <a:ext cx="5559552" cy="3906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글자 색 바꾸기" descr="글자 색 바꾸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9443"/>
            <a:ext cx="5486400" cy="3833355"/>
          </a:xfrm>
          <a:prstGeom prst="rect">
            <a:avLst/>
          </a:prstGeom>
        </p:spPr>
      </p:pic>
      <p:sp>
        <p:nvSpPr>
          <p:cNvPr id="5" name="위에서 본 독도 키캡 frame"/>
          <p:cNvSpPr/>
          <p:nvPr/>
        </p:nvSpPr>
        <p:spPr>
          <a:xfrm>
            <a:off x="6364224" y="1243584"/>
            <a:ext cx="4005072" cy="4005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위에서 본 독도 키캡" descr="위에서 본 독도 키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3931920" cy="3931920"/>
          </a:xfrm>
          <a:prstGeom prst="rect">
            <a:avLst/>
          </a:prstGeom>
        </p:spPr>
      </p:pic>
      <p:sp>
        <p:nvSpPr>
          <p:cNvPr id="7" name="num 1"/>
          <p:cNvSpPr/>
          <p:nvPr/>
        </p:nvSpPr>
        <p:spPr>
          <a:xfrm>
            <a:off x="548640" y="5468112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5468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60120" y="54406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색 고르기 → 🪣 켜기</a:t>
            </a:r>
            <a:endParaRPr lang="en-US" sz="1300" dirty="0"/>
          </a:p>
        </p:txBody>
      </p:sp>
      <p:sp>
        <p:nvSpPr>
          <p:cNvPr id="10" name="num 2"/>
          <p:cNvSpPr/>
          <p:nvPr/>
        </p:nvSpPr>
        <p:spPr>
          <a:xfrm>
            <a:off x="2697480" y="5468112"/>
            <a:ext cx="347472" cy="347472"/>
          </a:xfrm>
          <a:prstGeom prst="ellipse">
            <a:avLst/>
          </a:prstGeom>
          <a:solidFill>
            <a:srgbClr val="1D5F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697480" y="5468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108960" y="54406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"도" 글자 누르기</a:t>
            </a:r>
            <a:endParaRPr lang="en-US" sz="1300" dirty="0"/>
          </a:p>
        </p:txBody>
      </p:sp>
      <p:sp>
        <p:nvSpPr>
          <p:cNvPr id="13" name="num 3"/>
          <p:cNvSpPr/>
          <p:nvPr/>
        </p:nvSpPr>
        <p:spPr>
          <a:xfrm>
            <a:off x="4526280" y="5468112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26280" y="5468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5440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3MF로 저장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0" y="5440680"/>
            <a:ext cx="5257800" cy="548640"/>
          </a:xfrm>
          <a:prstGeom prst="roundRect">
            <a:avLst>
              <a:gd name="adj" fmla="val 13333"/>
            </a:avLst>
          </a:prstGeom>
          <a:solidFill>
            <a:srgbClr val="E8F0FD"/>
          </a:solidFill>
          <a:ln w="12700">
            <a:solidFill>
              <a:srgbClr val="E8F0F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0" y="54406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3557"/>
                </a:solidFill>
              </a:rPr>
              <a:t>색마다 따로 파트가 나뉘어 슬라이서에서 필라멘트를 고를 수 있어요.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저장하고 출력하기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206240"/>
                <a:gridCol w="3931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저장 버튼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언제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여는 곳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7048E8"/>
                          </a:solidFill>
                        </a:rPr>
                        <a:t>3MF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색이 여러 개일 때 (추천)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Bambu Studio · OrcaSlicer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7048E8"/>
                          </a:solidFill>
                        </a:rPr>
                        <a:t>STL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한 색으로 출력할 때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모든 슬라이서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95057"/>
                          </a:solidFill>
                        </a:rPr>
                        <a:t>프로젝트 → 저장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다음 시간에 이어서 고칠 때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230"/>
                          </a:solidFill>
                        </a:rPr>
                        <a:t>SVG Forge (.svgforge)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um 1"/>
          <p:cNvSpPr/>
          <p:nvPr/>
        </p:nvSpPr>
        <p:spPr>
          <a:xfrm>
            <a:off x="548640" y="390448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3904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88620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스템이 헐겁거나 빡빡하면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키캡 → 공차를 0.05mm씩 바꿔 다시 출력</a:t>
            </a:r>
            <a:endParaRPr lang="en-US" sz="1500" dirty="0"/>
          </a:p>
        </p:txBody>
      </p:sp>
      <p:sp>
        <p:nvSpPr>
          <p:cNvPr id="7" name="num 2"/>
          <p:cNvSpPr/>
          <p:nvPr/>
        </p:nvSpPr>
        <p:spPr>
          <a:xfrm>
            <a:off x="548640" y="454456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544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5262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슬라이서에서 서포트 확인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키캡 안쪽 빈 공간을 미리 살펴보기</a:t>
            </a:r>
            <a:endParaRPr lang="en-US" sz="1500" dirty="0"/>
          </a:p>
        </p:txBody>
      </p:sp>
      <p:sp>
        <p:nvSpPr>
          <p:cNvPr id="10" name="num 3"/>
          <p:cNvSpPr/>
          <p:nvPr/>
        </p:nvSpPr>
        <p:spPr>
          <a:xfrm>
            <a:off x="548640" y="5184648"/>
            <a:ext cx="347472" cy="347472"/>
          </a:xfrm>
          <a:prstGeom prst="ellipse">
            <a:avLst/>
          </a:prstGeom>
          <a:solidFill>
            <a:srgbClr val="7048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51846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16636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C2230"/>
                </a:solidFill>
              </a:rPr>
              <a:t>시험 출력 1개 먼저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D6678"/>
                </a:solidFill>
              </a:rPr>
              <a:t>맞으면 여러 개 출력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완성 전 체크리스트</a:t>
            </a:r>
            <a:endParaRPr lang="en-US" sz="3000" dirty="0"/>
          </a:p>
        </p:txBody>
      </p:sp>
      <p:sp>
        <p:nvSpPr>
          <p:cNvPr id="3" name="check 1"/>
          <p:cNvSpPr/>
          <p:nvPr/>
        </p:nvSpPr>
        <p:spPr>
          <a:xfrm>
            <a:off x="548640" y="132588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4" name="box 1"/>
          <p:cNvSpPr/>
          <p:nvPr/>
        </p:nvSpPr>
        <p:spPr>
          <a:xfrm>
            <a:off x="868680" y="16916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25400">
            <a:solidFill>
              <a:srgbClr val="7048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132588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빨간 표시가 거의 없다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가는 선·작은 조각 정리</a:t>
            </a:r>
            <a:endParaRPr lang="en-US" sz="1900" dirty="0"/>
          </a:p>
        </p:txBody>
      </p:sp>
      <p:sp>
        <p:nvSpPr>
          <p:cNvPr id="6" name="check 2"/>
          <p:cNvSpPr/>
          <p:nvPr/>
        </p:nvSpPr>
        <p:spPr>
          <a:xfrm>
            <a:off x="6172200" y="132588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7" name="box 2"/>
          <p:cNvSpPr/>
          <p:nvPr/>
        </p:nvSpPr>
        <p:spPr>
          <a:xfrm>
            <a:off x="6492240" y="16916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25400">
            <a:solidFill>
              <a:srgbClr val="7048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69480" y="132588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키캡 경고가 없다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"윗면보다 커서 잘립니다" 없음</a:t>
            </a:r>
            <a:endParaRPr lang="en-US" sz="1900" dirty="0"/>
          </a:p>
        </p:txBody>
      </p:sp>
      <p:sp>
        <p:nvSpPr>
          <p:cNvPr id="9" name="check 3"/>
          <p:cNvSpPr/>
          <p:nvPr/>
        </p:nvSpPr>
        <p:spPr>
          <a:xfrm>
            <a:off x="548640" y="278892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0" name="box 3"/>
          <p:cNvSpPr/>
          <p:nvPr/>
        </p:nvSpPr>
        <p:spPr>
          <a:xfrm>
            <a:off x="868680" y="31546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25400">
            <a:solidFill>
              <a:srgbClr val="7048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278892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3D "위" 보기로 확인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모양이 또렷하게 보이는지</a:t>
            </a:r>
            <a:endParaRPr lang="en-US" sz="1900" dirty="0"/>
          </a:p>
        </p:txBody>
      </p:sp>
      <p:sp>
        <p:nvSpPr>
          <p:cNvPr id="12" name="check 4"/>
          <p:cNvSpPr/>
          <p:nvPr/>
        </p:nvSpPr>
        <p:spPr>
          <a:xfrm>
            <a:off x="6172200" y="278892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3" name="box 4"/>
          <p:cNvSpPr/>
          <p:nvPr/>
        </p:nvSpPr>
        <p:spPr>
          <a:xfrm>
            <a:off x="6492240" y="31546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25400">
            <a:solidFill>
              <a:srgbClr val="7048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69480" y="278892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색이 원하는 대로 나뉨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색상별 높이도 확인</a:t>
            </a:r>
            <a:endParaRPr lang="en-US" sz="1900" dirty="0"/>
          </a:p>
        </p:txBody>
      </p:sp>
      <p:sp>
        <p:nvSpPr>
          <p:cNvPr id="15" name="check 5"/>
          <p:cNvSpPr/>
          <p:nvPr/>
        </p:nvSpPr>
        <p:spPr>
          <a:xfrm>
            <a:off x="548640" y="425196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6" name="box 5"/>
          <p:cNvSpPr/>
          <p:nvPr/>
        </p:nvSpPr>
        <p:spPr>
          <a:xfrm>
            <a:off x="868680" y="46177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25400">
            <a:solidFill>
              <a:srgbClr val="7048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45920" y="425196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3MF 저장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파일 이름에 내 이름</a:t>
            </a:r>
            <a:endParaRPr lang="en-US" sz="1900" dirty="0"/>
          </a:p>
        </p:txBody>
      </p:sp>
      <p:sp>
        <p:nvSpPr>
          <p:cNvPr id="18" name="check 6"/>
          <p:cNvSpPr/>
          <p:nvPr/>
        </p:nvSpPr>
        <p:spPr>
          <a:xfrm>
            <a:off x="6172200" y="425196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9" name="box 6"/>
          <p:cNvSpPr/>
          <p:nvPr/>
        </p:nvSpPr>
        <p:spPr>
          <a:xfrm>
            <a:off x="6492240" y="46177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25400">
            <a:solidFill>
              <a:srgbClr val="7048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69480" y="425196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230"/>
                </a:solidFill>
              </a:rPr>
              <a:t>프로젝트 저장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D6678"/>
                </a:solidFill>
              </a:rPr>
              <a:t>다음 시간에 이어서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알아두면 편한 단축키</a:t>
            </a:r>
            <a:endParaRPr lang="en-US" sz="3000" dirty="0"/>
          </a:p>
        </p:txBody>
      </p:sp>
      <p:sp>
        <p:nvSpPr>
          <p:cNvPr id="3" name="key 1"/>
          <p:cNvSpPr/>
          <p:nvPr/>
        </p:nvSpPr>
        <p:spPr>
          <a:xfrm>
            <a:off x="548640" y="137160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64208"/>
            <a:ext cx="1600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B7C0D1"/>
            </a:solidFill>
            <a:prstDash val="solid"/>
          </a:ln>
          <a:effectLst>
            <a:outerShdw sx="100000" sy="100000" kx="0" ky="0" algn="bl" rotWithShape="0" blurRad="254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642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Ctrl + Z / 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137160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되돌리기 / 다시</a:t>
            </a:r>
            <a:endParaRPr lang="en-US" sz="1300" dirty="0"/>
          </a:p>
        </p:txBody>
      </p:sp>
      <p:sp>
        <p:nvSpPr>
          <p:cNvPr id="7" name="key 2"/>
          <p:cNvSpPr/>
          <p:nvPr/>
        </p:nvSpPr>
        <p:spPr>
          <a:xfrm>
            <a:off x="4297680" y="137160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80560" y="1664208"/>
            <a:ext cx="1600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B7C0D1"/>
            </a:solidFill>
            <a:prstDash val="solid"/>
          </a:ln>
          <a:effectLst>
            <a:outerShdw sx="100000" sy="100000" kx="0" ky="0" algn="bl" rotWithShape="0" blurRad="254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80560" y="16642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Delete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137160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선택 도형 삭제</a:t>
            </a:r>
            <a:endParaRPr lang="en-US" sz="1300" dirty="0"/>
          </a:p>
        </p:txBody>
      </p:sp>
      <p:sp>
        <p:nvSpPr>
          <p:cNvPr id="11" name="key 3"/>
          <p:cNvSpPr/>
          <p:nvPr/>
        </p:nvSpPr>
        <p:spPr>
          <a:xfrm>
            <a:off x="8046720" y="137160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664208"/>
            <a:ext cx="1600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B7C0D1"/>
            </a:solidFill>
            <a:prstDash val="solid"/>
          </a:ln>
          <a:effectLst>
            <a:outerShdw sx="100000" sy="100000" kx="0" ky="0" algn="bl" rotWithShape="0" blurRad="25400" dist="127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6642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Esc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966960" y="137160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도구 끄기 · 선택 해제</a:t>
            </a:r>
            <a:endParaRPr lang="en-US" sz="1300" dirty="0"/>
          </a:p>
        </p:txBody>
      </p:sp>
      <p:sp>
        <p:nvSpPr>
          <p:cNvPr id="15" name="key 4"/>
          <p:cNvSpPr/>
          <p:nvPr/>
        </p:nvSpPr>
        <p:spPr>
          <a:xfrm>
            <a:off x="548640" y="274320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035808"/>
            <a:ext cx="1600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B7C0D1"/>
            </a:solidFill>
            <a:prstDash val="solid"/>
          </a:ln>
          <a:effectLst>
            <a:outerShdw sx="100000" sy="100000" kx="0" ky="0" algn="bl" rotWithShape="0" blurRad="25400" dist="127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30358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Ctrl + 클릭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274320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여러 개 선택</a:t>
            </a:r>
            <a:endParaRPr lang="en-US" sz="1300" dirty="0"/>
          </a:p>
        </p:txBody>
      </p:sp>
      <p:sp>
        <p:nvSpPr>
          <p:cNvPr id="19" name="key 5"/>
          <p:cNvSpPr/>
          <p:nvPr/>
        </p:nvSpPr>
        <p:spPr>
          <a:xfrm>
            <a:off x="4297680" y="274320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0560" y="3035808"/>
            <a:ext cx="1600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B7C0D1"/>
            </a:solidFill>
            <a:prstDash val="solid"/>
          </a:ln>
          <a:effectLst>
            <a:outerShdw sx="100000" sy="100000" kx="0" ky="0" algn="bl" rotWithShape="0" blurRad="25400" dist="127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80560" y="30358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휠 버튼 끌기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74320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화면 이동</a:t>
            </a:r>
            <a:endParaRPr lang="en-US" sz="1300" dirty="0"/>
          </a:p>
        </p:txBody>
      </p:sp>
      <p:sp>
        <p:nvSpPr>
          <p:cNvPr id="23" name="key 6"/>
          <p:cNvSpPr/>
          <p:nvPr/>
        </p:nvSpPr>
        <p:spPr>
          <a:xfrm>
            <a:off x="8046720" y="274320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3035808"/>
            <a:ext cx="1600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B7C0D1"/>
            </a:solidFill>
            <a:prstDash val="solid"/>
          </a:ln>
          <a:effectLst>
            <a:outerShdw sx="100000" sy="100000" kx="0" ky="0" algn="bl" rotWithShape="0" blurRad="25400" dist="127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0" y="30358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마우스 휠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966960" y="274320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확대 · 축소</a:t>
            </a:r>
            <a:endParaRPr lang="en-US" sz="1300" dirty="0"/>
          </a:p>
        </p:txBody>
      </p:sp>
      <p:sp>
        <p:nvSpPr>
          <p:cNvPr id="27" name="key 7"/>
          <p:cNvSpPr/>
          <p:nvPr/>
        </p:nvSpPr>
        <p:spPr>
          <a:xfrm>
            <a:off x="548640" y="411480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4407408"/>
            <a:ext cx="1600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B7C0D1"/>
            </a:solidFill>
            <a:prstDash val="solid"/>
          </a:ln>
          <a:effectLst>
            <a:outerShdw sx="100000" sy="100000" kx="0" ky="0" algn="bl" rotWithShape="0" blurRad="25400" dist="127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31520" y="44074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더블클릭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468880" y="411480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처음 보기</a:t>
            </a:r>
            <a:endParaRPr lang="en-US" sz="1300" dirty="0"/>
          </a:p>
        </p:txBody>
      </p:sp>
      <p:sp>
        <p:nvSpPr>
          <p:cNvPr id="31" name="key 8"/>
          <p:cNvSpPr/>
          <p:nvPr/>
        </p:nvSpPr>
        <p:spPr>
          <a:xfrm>
            <a:off x="4297680" y="411480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80560" y="4407408"/>
            <a:ext cx="1600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B7C0D1"/>
            </a:solidFill>
            <a:prstDash val="solid"/>
          </a:ln>
          <a:effectLst>
            <a:outerShdw sx="100000" sy="100000" kx="0" ky="0" algn="bl" rotWithShape="0" blurRad="25400" dist="127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480560" y="44074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D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411480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치수 보이기</a:t>
            </a:r>
            <a:endParaRPr lang="en-US" sz="1300" dirty="0"/>
          </a:p>
        </p:txBody>
      </p:sp>
      <p:sp>
        <p:nvSpPr>
          <p:cNvPr id="35" name="key 9"/>
          <p:cNvSpPr/>
          <p:nvPr/>
        </p:nvSpPr>
        <p:spPr>
          <a:xfrm>
            <a:off x="8046720" y="4114800"/>
            <a:ext cx="3520440" cy="1097280"/>
          </a:xfrm>
          <a:prstGeom prst="roundRect">
            <a:avLst>
              <a:gd name="adj" fmla="val 8333"/>
            </a:avLst>
          </a:prstGeom>
          <a:solidFill>
            <a:srgbClr val="F3F4F7"/>
          </a:solidFill>
          <a:ln w="12700">
            <a:solidFill>
              <a:srgbClr val="DF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0" y="4407408"/>
            <a:ext cx="1600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B7C0D1"/>
            </a:solidFill>
            <a:prstDash val="solid"/>
          </a:ln>
          <a:effectLst>
            <a:outerShdw sx="100000" sy="100000" kx="0" ky="0" algn="bl" rotWithShape="0" blurRad="25400" dist="127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8229600" y="44074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230"/>
                </a:solidFill>
              </a:rPr>
              <a:t>방향키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966960" y="411480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678"/>
                </a:solidFill>
              </a:rPr>
              <a:t>글자 미세 이동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나만의 키캡 완성!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4EA"/>
                </a:solidFill>
              </a:rPr>
              <a:t>다른 그림·내 이름으로도 도전해 보세요 · 키링과 레이저 모드도 있어요</a:t>
            </a:r>
            <a:endParaRPr lang="en-US" sz="1800" dirty="0"/>
          </a:p>
        </p:txBody>
      </p:sp>
      <p:pic>
        <p:nvPicPr>
          <p:cNvPr id="4" name="end seal" descr="물개 키캡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4206240"/>
            <a:ext cx="2103120" cy="1998470"/>
          </a:xfrm>
          <a:prstGeom prst="rect">
            <a:avLst/>
          </a:prstGeom>
        </p:spPr>
      </p:pic>
      <p:pic>
        <p:nvPicPr>
          <p:cNvPr id="5" name="end dokdo" descr="독도 키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206240"/>
            <a:ext cx="2103120" cy="199929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G Forge">
  <a:themeElements>
    <a:clrScheme name="SVG Forge">
      <a:dk1>
        <a:srgbClr val="1C2230"/>
      </a:dk1>
      <a:lt1>
        <a:srgbClr val="FFFFFF"/>
      </a:lt1>
      <a:dk2>
        <a:srgbClr val="1D3557"/>
      </a:dk2>
      <a:lt2>
        <a:srgbClr val="F3F4F7"/>
      </a:lt2>
      <a:accent1>
        <a:srgbClr val="1D5FD6"/>
      </a:accent1>
      <a:accent2>
        <a:srgbClr val="0CA678"/>
      </a:accent2>
      <a:accent3>
        <a:srgbClr val="7048E8"/>
      </a:accent3>
      <a:accent4>
        <a:srgbClr val="E8590C"/>
      </a:accent4>
      <a:accent5>
        <a:srgbClr val="F4B400"/>
      </a:accent5>
      <a:accent6>
        <a:srgbClr val="495057"/>
      </a:accent6>
      <a:hlink>
        <a:srgbClr val="1D5FD6"/>
      </a:hlink>
      <a:folHlink>
        <a:srgbClr val="7048E8"/>
      </a:folHlink>
    </a:clrScheme>
    <a:fontScheme name="SVG Forg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나만의 키캡 만들기 — SVG Forge</dc:title>
  <dc:subject>PptxGenJS Presentation</dc:subject>
  <dc:creator>uniquelife</dc:creator>
  <cp:lastModifiedBy>uniquelife</cp:lastModifiedBy>
  <cp:revision>1</cp:revision>
  <dcterms:created xsi:type="dcterms:W3CDTF">2026-10-12T09:11:20Z</dcterms:created>
  <dcterms:modified xsi:type="dcterms:W3CDTF">2026-10-12T09:11:20Z</dcterms:modified>
</cp:coreProperties>
</file>