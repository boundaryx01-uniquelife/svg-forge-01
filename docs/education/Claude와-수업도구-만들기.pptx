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무엇을 만들었나" id="{5cb2e954-978f-a4b6-11cb-083cc3451da2}">
          <p14:sldIdLst>
            <p14:sldId id="256"/>
            <p14:sldId id="257"/>
            <p14:sldId id="258"/>
            <p14:sldId id="259"/>
            <p14:sldId id="260"/>
          </p14:sldIdLst>
        </p14:section>
        <p14:section name="다섯 단계" id="{440b7978-6d1c-c844-309d-0df0dbc45b4b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바로 쓰는 틀" id="{486f90dd-8d4c-6a5c-1571-1b58b3201e55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직접 해보기" id="{bc923112-ffad-2e89-1b4e-04c29caffec5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제가 Claude와 함께 수업용 도구 하나를 만든 과정을 그대로 보여 드립니다. 프로그래밍을 배우자는 게 아니라, 어떻게 말을 걸어야 원하는 것이 나오는지를 보여 드리는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MakerWorld의 MakerLab에 넣을 SVG가 필요해서 시작했고, 쓰다 보니 레이저 커팅과 3D 프린팅, 키캡까지 범위가 넓어졌습니다.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14일이라고 했지만 실제로 작업한 날은 5일입니다. 나머지는 수업하고 출장 다녔습니다. 하루에 몰아서 하는 게 아니라 틈틈이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가장 중요합니다. 연수 참가자들이 가장 궁금해하는 건 "나도 되나요"입니다. 코딩 지식은 필요 없지만, 결과를 보고 판단하는 눈은 필요합니다. 그 눈은 선생님들이 이미 가지고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단계를 차례로 보겠습니다. 각 단계마다 제가 실제로 보낸 프롬프트 원문을 그대로 보여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프롬프트에서 정한 두 가지가 끝까지 유지됐습니다. 쓰임새와 제약입니다.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장비 이름, 프로그램 이름을 그대로 말하는 게 핵심입니다. 그 장비가 요구하는 조건까지 함께 고려해 줍니다. RDWorks에서 곡선이 깨지는 문제는 제가 몰랐는데, 장비 이름을 말했기 때문에 찾아내 고쳐 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제약은 족쇄가 아니라 설계 조건입니다. 학교 환경은 제약이 많은데, 그걸 먼저 말할수록 결과가 좋아집니다.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열흘 쉬었습니다. 그동안 실제로 써 보면서 불편한 점이 쌓였고, 그게 2주차 작업 목록이 됐습니다. 쉬는 기간이 낭비가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날 하루에 27개를 했습니다. 각각은 5분에서 20분짜리 작은 요청입니다. 쉬는 시간에 하나, 퇴근 후에 두세 개 이런 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진짜 기록입니다. 연수에서 가장 반응이 좋은 장입니다. 멋진 프롬프트를 써야 한다는 부담을 내려놓게 해 주세요. 앞 대화가 있으면 "다시 확인" 두 글자로도 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자주 하게 되는 단계입니다. 여기서 말하는 방식이 결과를 가장 크게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선생님들이 가장 많이 하는 실수가 원인을 추측해서 말하는 겁니다. "좌표 계산이 잘못된 것 같은데"라고 하면 그쪽만 보게 됩니다. 그냥 보이는 대로 말하면 전체를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그대로 읽지 말고, 참가자에게 "지금 쓰던 프로그램에서 뭐가 불편했는지 한 문장으로 말해 보세요"라고 시켜 보면 효과가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검증을 요구하는 습관이 가장 큰 차이를 만듭니다. 기능을 추가하면 다른 데가 망가지는 일이 흔한데, 자동 검사가 있으면 바로 잡힙니다.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두 번째로 중요합니다. 손으로 만들었으면 아까워서 못 버립니다. AI와 만들면 다시 만드는 데 10분이면 되니까 과감해질 수 있습니다. 이게 진짜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이제부터는 실습용입니다. 핸드북에 복사 버튼으로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틀은 핸드북 HTML에 복사 버튼으로 들어 있습니다. 아래 예시처럼 자기 상황으로 바꿔서 연수 중에 직접 하나 써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틀은 핸드북 HTML에 복사 버튼으로 들어 있습니다. 아래 예시처럼 자기 상황으로 바꿔서 연수 중에 직접 하나 써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틀은 핸드북 HTML에 복사 버튼으로 들어 있습니다. 아래 예시처럼 자기 상황으로 바꿔서 연수 중에 직접 하나 써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틀은 핸드북 HTML에 복사 버튼으로 들어 있습니다. 아래 예시처럼 자기 상황으로 바꿔서 연수 중에 직접 하나 써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저도 전부 겪었습니다. 솔직하게 말하는 게 연수에서 신뢰를 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시간은 실제로 시작해 보는 데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욕심내서 큰 걸 고르면 중간에 지칩니다. 2시간이면 끝나는 것부터 한 번 완성해 보는 게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도구를 다 갖추고 시작할 필요 없습니다. 앱 하나로 시작해서 필요해질 때마다 하나씩 붙이면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저도 열흘을 쉬었고, 그 기간에 쌓인 불편함이 2주차 작업 목록이 됐습니다. 쉬는 기간을 일정에 넣으세요.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메시지는 하나입니다. 코딩을 배우라는 게 아니라, 필요한 걸 아는 사람이 직접 만들 수 있는 시대가 됐다는 것. 그 사람이 바로 교실에 있는 선생님입니다.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Claude와 수업 도구 만들기 · uniquelife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Claude와 수업 도구 만들기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9D4EA"/>
                </a:solidFill>
              </a:rPr>
              <a:t>코딩 없이 2주 만에 — SVG Forge 제작 기록과 프롬프트 방법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교사·강사 연수용</a:t>
            </a:r>
            <a:endParaRPr lang="en-US" sz="1500" dirty="0"/>
          </a:p>
        </p:txBody>
      </p:sp>
      <p:pic>
        <p:nvPicPr>
          <p:cNvPr id="6" name="hero1" descr="물개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0"/>
            <a:ext cx="1737360" cy="1737360"/>
          </a:xfrm>
          <a:prstGeom prst="rect">
            <a:avLst/>
          </a:prstGeom>
        </p:spPr>
      </p:pic>
      <p:pic>
        <p:nvPicPr>
          <p:cNvPr id="7" name="hero2" descr="독도 키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0"/>
            <a:ext cx="1737360" cy="1651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</a:rPr>
              <a:t>uniquelife · 동래발명교육센터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무엇을 만들었나 — SVG Forge</a:t>
            </a:r>
            <a:endParaRPr lang="en-US" sz="2900" dirty="0"/>
          </a:p>
        </p:txBody>
      </p:sp>
      <p:sp>
        <p:nvSpPr>
          <p:cNvPr id="3" name="SVG Forge 화면 frame"/>
          <p:cNvSpPr/>
          <p:nvPr/>
        </p:nvSpPr>
        <p:spPr>
          <a:xfrm>
            <a:off x="512064" y="1478878"/>
            <a:ext cx="7205472" cy="408312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VG Forge 화면" descr="SVG Forge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5454"/>
            <a:ext cx="7132320" cy="4009972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7955280" y="1298448"/>
            <a:ext cx="347472" cy="347472"/>
          </a:xfrm>
          <a:prstGeom prst="ellipse">
            <a:avLst/>
          </a:prstGeom>
          <a:solidFill>
            <a:srgbClr val="C15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1280160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그림·글자 → SVG · DXF · STL · 3MF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레이저 커팅기와 3D 프린터에 바로 넣는 파일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7955280" y="2350008"/>
            <a:ext cx="347472" cy="347472"/>
          </a:xfrm>
          <a:prstGeom prst="ellipse">
            <a:avLst/>
          </a:prstGeom>
          <a:solidFill>
            <a:srgbClr val="C15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331720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브라우저에서 바로 실행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설치 없음 · 인터넷 없이도 동작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7955280" y="3401568"/>
            <a:ext cx="347472" cy="347472"/>
          </a:xfrm>
          <a:prstGeom prst="ellipse">
            <a:avLst/>
          </a:prstGeom>
          <a:solidFill>
            <a:srgbClr val="C15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383280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수업에 실제로 사용 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키캡 만들기, 키링·네임택, 레이저 가공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7955280" y="4453128"/>
            <a:ext cx="347472" cy="347472"/>
          </a:xfrm>
          <a:prstGeom prst="ellipse">
            <a:avLst/>
          </a:prstGeom>
          <a:solidFill>
            <a:srgbClr val="C15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4434840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학생 각자 PC에서 동작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파일 하나만 나눠 주면 끝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9436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5943600"/>
            <a:ext cx="10661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svg-forge-01.netlify.app · 저장소 github.com/boundaryx01-uniquelife/svg-forge-01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숫자로 보는 2주</a:t>
            </a:r>
            <a:endParaRPr lang="en-US" sz="2900" dirty="0"/>
          </a:p>
        </p:txBody>
      </p:sp>
      <p:sp>
        <p:nvSpPr>
          <p:cNvPr id="3" name="stat 1"/>
          <p:cNvSpPr/>
          <p:nvPr/>
        </p:nvSpPr>
        <p:spPr>
          <a:xfrm>
            <a:off x="548640" y="13716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15F3C"/>
                </a:solidFill>
              </a:rPr>
              <a:t>14</a:t>
            </a:r>
            <a:pPr indent="0" marL="0">
              <a:buNone/>
            </a:pPr>
            <a:r>
              <a:rPr lang="en-US" sz="1800" b="1" dirty="0">
                <a:solidFill>
                  <a:srgbClr val="C15F3C"/>
                </a:solidFill>
              </a:rPr>
              <a:t> 일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첫 커밋부터 v2.0.0까지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3383280" y="13716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048E8"/>
                </a:solidFill>
              </a:rPr>
              <a:t>5</a:t>
            </a:r>
            <a:pPr indent="0" marL="0">
              <a:buNone/>
            </a:pPr>
            <a:r>
              <a:rPr lang="en-US" sz="1800" b="1" dirty="0">
                <a:solidFill>
                  <a:srgbClr val="7048E8"/>
                </a:solidFill>
              </a:rPr>
              <a:t> 일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실제로 손댄 날 (나머지는 다른 일)</a:t>
            </a:r>
            <a:endParaRPr lang="en-US" sz="1400" dirty="0"/>
          </a:p>
        </p:txBody>
      </p:sp>
      <p:sp>
        <p:nvSpPr>
          <p:cNvPr id="9" name="stat 3"/>
          <p:cNvSpPr/>
          <p:nvPr/>
        </p:nvSpPr>
        <p:spPr>
          <a:xfrm>
            <a:off x="6217920" y="13716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5FD6"/>
                </a:solidFill>
              </a:rPr>
              <a:t>59</a:t>
            </a:r>
            <a:pPr indent="0" marL="0">
              <a:buNone/>
            </a:pPr>
            <a:r>
              <a:rPr lang="en-US" sz="1800" b="1" dirty="0">
                <a:solidFill>
                  <a:srgbClr val="1D5FD6"/>
                </a:solidFill>
              </a:rPr>
              <a:t> 커밋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= 요청을 59번 나눠서 했다는 뜻</a:t>
            </a:r>
            <a:endParaRPr lang="en-US" sz="1400" dirty="0"/>
          </a:p>
        </p:txBody>
      </p:sp>
      <p:sp>
        <p:nvSpPr>
          <p:cNvPr id="12" name="stat 4"/>
          <p:cNvSpPr/>
          <p:nvPr/>
        </p:nvSpPr>
        <p:spPr>
          <a:xfrm>
            <a:off x="9052560" y="13716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554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CA678"/>
                </a:solidFill>
              </a:rPr>
              <a:t>0</a:t>
            </a:r>
            <a:pPr indent="0" marL="0">
              <a:buNone/>
            </a:pPr>
            <a:r>
              <a:rPr lang="en-US" sz="1800" b="1" dirty="0">
                <a:solidFill>
                  <a:srgbClr val="0CA678"/>
                </a:solidFill>
              </a:rPr>
              <a:t> 줄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내가 직접 작성한 코드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64008" cy="9601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14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코드 9,890줄 · 파일 23개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전부 Claude가 작성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4114800"/>
            <a:ext cx="64008" cy="9601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114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자동 검사 67개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기능이 망가졌는지 매번 확인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4114800"/>
            <a:ext cx="64008" cy="9601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14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최종 결과물 = HTML 파일 1개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6.5MB · 더블클릭하면 실행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39496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B1F"/>
                </a:solidFill>
              </a:rPr>
              <a:t>중요한 건 59라는 숫자입니다. 한 번에 다 만들어 달라고 한 게 아니라, 59번 조금씩 고쳐 달라고 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솔직하게 — 무엇이 필요했고 무엇이 아니었나</a:t>
            </a:r>
            <a:endParaRPr lang="en-US" sz="2900" dirty="0"/>
          </a:p>
        </p:txBody>
      </p:sp>
      <p:sp>
        <p:nvSpPr>
          <p:cNvPr id="3" name="col 1"/>
          <p:cNvSpPr/>
          <p:nvPr/>
        </p:nvSpPr>
        <p:spPr>
          <a:xfrm>
            <a:off x="548640" y="12801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6F6F0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A678"/>
                </a:solidFill>
              </a:rPr>
              <a:t>필요했던 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46304" cy="146304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11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만들 것이 머릿속에 선명했다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46304" cy="146304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"MakerLab에 넣을 SVG"처럼 쓰임새가 분명했다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146304" cy="146304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566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결과를 보고 틀렸다고 말할 수 있었다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480560"/>
            <a:ext cx="146304" cy="146304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343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한 번에 끝내려 하지 않았다</a:t>
            </a:r>
            <a:endParaRPr lang="en-US" sz="1500" dirty="0"/>
          </a:p>
        </p:txBody>
      </p:sp>
      <p:sp>
        <p:nvSpPr>
          <p:cNvPr id="13" name="col 2"/>
          <p:cNvSpPr/>
          <p:nvPr/>
        </p:nvSpPr>
        <p:spPr>
          <a:xfrm>
            <a:off x="6217920" y="12801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6678"/>
                </a:solidFill>
              </a:rPr>
              <a:t>필요 없었던 것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2148840"/>
            <a:ext cx="146304" cy="146304"/>
          </a:xfrm>
          <a:prstGeom prst="ellipse">
            <a:avLst/>
          </a:prstGeom>
          <a:solidFill>
            <a:srgbClr val="5D6678"/>
          </a:solidFill>
          <a:ln w="12700">
            <a:solidFill>
              <a:srgbClr val="5D66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2011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프로그래밍 언어 지식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0" y="2926080"/>
            <a:ext cx="146304" cy="146304"/>
          </a:xfrm>
          <a:prstGeom prst="ellipse">
            <a:avLst/>
          </a:prstGeom>
          <a:solidFill>
            <a:srgbClr val="5D6678"/>
          </a:solidFill>
          <a:ln w="12700">
            <a:solidFill>
              <a:srgbClr val="5D66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개발 도구 사용법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3703320"/>
            <a:ext cx="146304" cy="146304"/>
          </a:xfrm>
          <a:prstGeom prst="ellipse">
            <a:avLst/>
          </a:prstGeom>
          <a:solidFill>
            <a:srgbClr val="5D6678"/>
          </a:solidFill>
          <a:ln w="12700">
            <a:solidFill>
              <a:srgbClr val="5D66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3566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수학·알고리즘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4480560"/>
            <a:ext cx="146304" cy="146304"/>
          </a:xfrm>
          <a:prstGeom prst="ellipse">
            <a:avLst/>
          </a:prstGeom>
          <a:solidFill>
            <a:srgbClr val="5D6678"/>
          </a:solidFill>
          <a:ln w="12700">
            <a:solidFill>
              <a:srgbClr val="5D66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4343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영어로 된 긴 프롬프트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48640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프로그래밍을 몰라도 됩니다. 대신 "이게 아니다"라고 말할 수 있어야 합니다 — 그건 수업 설계와 똑같은 능력입니다.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오늘 가져갈 것</a:t>
            </a:r>
            <a:endParaRPr lang="en-US" sz="29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C15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시작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쓰임새와 제약을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먼저 못 박기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42616" y="2697480"/>
            <a:ext cx="146304" cy="310896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16352" y="146304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044952" y="1691640"/>
            <a:ext cx="548640" cy="548640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키우기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29260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한 번에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기능 하나씩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910328" y="2697480"/>
            <a:ext cx="146304" cy="310896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084064" y="146304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num 3"/>
          <p:cNvSpPr/>
          <p:nvPr/>
        </p:nvSpPr>
        <p:spPr>
          <a:xfrm>
            <a:off x="5312664" y="1691640"/>
            <a:ext cx="548640" cy="54864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26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고치기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29260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원인 말고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증상으로 신고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78040" y="2697480"/>
            <a:ext cx="146304" cy="310896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51776" y="146304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num 4"/>
          <p:cNvSpPr/>
          <p:nvPr/>
        </p:nvSpPr>
        <p:spPr>
          <a:xfrm>
            <a:off x="7580376" y="1691640"/>
            <a:ext cx="548640" cy="548640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03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확인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29260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눈으로 보여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달라고 하기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45752" y="2697480"/>
            <a:ext cx="146304" cy="310896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19488" y="146304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num 5"/>
          <p:cNvSpPr/>
          <p:nvPr/>
        </p:nvSpPr>
        <p:spPr>
          <a:xfrm>
            <a:off x="9848088" y="1691640"/>
            <a:ext cx="548640" cy="548640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480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48088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버리기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29260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틀린 방향은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미련 없이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466344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+ 복사해서 바로 쓰는 프롬프트 틀 4종과, 2주 따라하기 일정표를 가져가십니다.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이 다섯 단계는 도구가 바뀌어도 같습니다 — 웹페이지, 설문 양식, 성적 처리기 무엇이든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1단계  시작하기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처음 한 마디가 2주를 결정합니다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① 기능이 아니라 "쓰임새"로 말한다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80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4"/>
                </a:solidFill>
              </a:rPr>
              <a:t>실제로 쓴 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"MakerWorld MakerLab에 넣을 SVG를 만들고 싶다.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레이저 커팅(RDWorks, LightBurn)에도 쓸 거다."</a:t>
            </a:r>
            <a:endParaRPr lang="en-US" sz="1500" dirty="0"/>
          </a:p>
        </p:txBody>
      </p:sp>
      <p:sp>
        <p:nvSpPr>
          <p:cNvPr id="6" name="cmp 1"/>
          <p:cNvSpPr/>
          <p:nvPr/>
        </p:nvSpPr>
        <p:spPr>
          <a:xfrm>
            <a:off x="548640" y="27432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2A2A"/>
                </a:solidFill>
              </a:rPr>
              <a:t>✕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926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"이미지를 벡터로 변환하는 프로그램 만들어 줘"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429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→ 그럴듯하지만 내 장비에서 안 열리는 파일이 나옴</a:t>
            </a:r>
            <a:endParaRPr lang="en-US" sz="1400" dirty="0"/>
          </a:p>
        </p:txBody>
      </p:sp>
      <p:sp>
        <p:nvSpPr>
          <p:cNvPr id="10" name="cmp 2"/>
          <p:cNvSpPr/>
          <p:nvPr/>
        </p:nvSpPr>
        <p:spPr>
          <a:xfrm>
            <a:off x="548640" y="4251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5196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A678"/>
                </a:solidFill>
              </a:rPr>
              <a:t>✓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"MakerLab에 넣을 SVG, RDWorks에서 열릴 DXF"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937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→ 그 장비의 요구사항까지 알아서 맞춰 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80644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B1F"/>
                </a:solidFill>
              </a:rPr>
              <a:t>실제로 RDWorks가 2차 곡선을 못 읽는 문제까지 알아서 찾아 고쳐 줬습니다 — 제가 몰랐던 문제입니다.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② 제약을 먼저 못 박는다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80160"/>
            <a:ext cx="6858000" cy="1234440"/>
          </a:xfrm>
          <a:prstGeom prst="roundRect">
            <a:avLst>
              <a:gd name="adj" fmla="val 5926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4"/>
                </a:solidFill>
              </a:rPr>
              <a:t>실제로 쓴 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"설치 없이 쓰게, HTML 파일 하나로.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인터넷 안 되는 교실에서도 돌아가야 한다."</a:t>
            </a:r>
            <a:endParaRPr lang="en-US" sz="1500" dirty="0"/>
          </a:p>
        </p:txBody>
      </p:sp>
      <p:sp>
        <p:nvSpPr>
          <p:cNvPr id="6" name="num 1"/>
          <p:cNvSpPr/>
          <p:nvPr/>
        </p:nvSpPr>
        <p:spPr>
          <a:xfrm>
            <a:off x="548640" y="285292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34640"/>
            <a:ext cx="6355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2주 내내 이 구조가 안 흔들렸다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59번 고치는 동안 한 번도 서버·회원가입이 끼어들지 않음</a:t>
            </a:r>
            <a:endParaRPr lang="en-US" sz="1500" dirty="0"/>
          </a:p>
        </p:txBody>
      </p:sp>
      <p:sp>
        <p:nvSpPr>
          <p:cNvPr id="9" name="num 2"/>
          <p:cNvSpPr/>
          <p:nvPr/>
        </p:nvSpPr>
        <p:spPr>
          <a:xfrm>
            <a:off x="548640" y="381304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94760"/>
            <a:ext cx="6355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학생 배포가 그냥 끝났다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USB로 파일 하나 복사하면 30명이 동시 사용</a:t>
            </a:r>
            <a:endParaRPr lang="en-US" sz="1500" dirty="0"/>
          </a:p>
        </p:txBody>
      </p:sp>
      <p:sp>
        <p:nvSpPr>
          <p:cNvPr id="12" name="num 3"/>
          <p:cNvSpPr/>
          <p:nvPr/>
        </p:nvSpPr>
        <p:spPr>
          <a:xfrm>
            <a:off x="548640" y="47731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754880"/>
            <a:ext cx="6355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교실 인터넷 사고에서 자유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와이파이가 끊겨도 수업이 멈추지 않음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0" y="128016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교사가 꼭 말해야 할 제약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92440" y="2212848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0848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설치 없이 / 설치형으로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92440" y="2788920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26609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인터넷 필요 / 불필요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092440" y="3364992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32369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학생 PC 사양 (낮음)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92440" y="3941064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38130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개인정보 수집 안 함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92440" y="4517136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우리 학교 장비 이름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092440" y="5093208"/>
            <a:ext cx="128016" cy="128016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4965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한글이 깨지지 않게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5806440"/>
            <a:ext cx="6455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제약을 늦게 말하면 다 만든 뒤에 갈아엎게 됩니다. 처음에 말하면 그 안에서 설계해 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첫날 결과 — 이미 쓸 만했다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9/29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3716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</a:rPr>
              <a:t>이미지·글자 → SVG/DXF/STL, 3MF 색 분리, 받침판·키링 고리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197864" y="2084832"/>
            <a:ext cx="54864" cy="438912"/>
          </a:xfrm>
          <a:prstGeom prst="rect">
            <a:avLst/>
          </a:prstGeom>
          <a:solidFill>
            <a:srgbClr val="DFE3EA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603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9/30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5603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</a:rPr>
              <a:t>레이저 절단 폭 보정, 되돌리기, 프로젝트 저장, 한국어/English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97864" y="3273552"/>
            <a:ext cx="54864" cy="438912"/>
          </a:xfrm>
          <a:prstGeom prst="rect">
            <a:avLst/>
          </a:prstGeom>
          <a:solidFill>
            <a:srgbClr val="DFE3EA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490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10/1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749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</a:rPr>
              <a:t>설치형(Windows) 버전, RDWorks 호환, 제작자 표기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02920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사흘 만에 "쓸 수 있는 도구"가 나왔습니다. 완벽해서가 아니라, 내 수업에 필요한 것만 만들었기 때문입니다.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※ 10/2~10/11은 손대지 않음 — 쓰면서 불편한 점이 쌓이길 기다린 기간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2단계 · 한 번에 기능 하나씩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5F3C"/>
                </a:solidFill>
              </a:rPr>
              <a:t>10월 12일 하루 — 커밋 27개</a:t>
            </a:r>
            <a:endParaRPr lang="en-US" sz="1800" dirty="0"/>
          </a:p>
        </p:txBody>
      </p:sp>
      <p:sp>
        <p:nvSpPr>
          <p:cNvPr id="4" name="item 1"/>
          <p:cNvSpPr/>
          <p:nvPr/>
        </p:nvSpPr>
        <p:spPr>
          <a:xfrm>
            <a:off x="548640" y="1691640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도형 선택·삭제·구멍 채우기</a:t>
            </a:r>
            <a:endParaRPr lang="en-US" sz="1300" dirty="0"/>
          </a:p>
        </p:txBody>
      </p:sp>
      <p:sp>
        <p:nvSpPr>
          <p:cNvPr id="7" name="item 2"/>
          <p:cNvSpPr/>
          <p:nvPr/>
        </p:nvSpPr>
        <p:spPr>
          <a:xfrm>
            <a:off x="4297680" y="1691640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6916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끊기(✂) 도구</a:t>
            </a:r>
            <a:endParaRPr lang="en-US" sz="1300" dirty="0"/>
          </a:p>
        </p:txBody>
      </p:sp>
      <p:sp>
        <p:nvSpPr>
          <p:cNvPr id="10" name="item 3"/>
          <p:cNvSpPr/>
          <p:nvPr/>
        </p:nvSpPr>
        <p:spPr>
          <a:xfrm>
            <a:off x="8046720" y="1691640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6916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끊기 미리보기 표시</a:t>
            </a:r>
            <a:endParaRPr lang="en-US" sz="1300" dirty="0"/>
          </a:p>
        </p:txBody>
      </p:sp>
      <p:sp>
        <p:nvSpPr>
          <p:cNvPr id="13" name="item 4"/>
          <p:cNvSpPr/>
          <p:nvPr/>
        </p:nvSpPr>
        <p:spPr>
          <a:xfrm>
            <a:off x="548640" y="2350008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3500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키캡(MX) 모드</a:t>
            </a:r>
            <a:endParaRPr lang="en-US" sz="1300" dirty="0"/>
          </a:p>
        </p:txBody>
      </p:sp>
      <p:sp>
        <p:nvSpPr>
          <p:cNvPr id="16" name="item 5"/>
          <p:cNvSpPr/>
          <p:nvPr/>
        </p:nvSpPr>
        <p:spPr>
          <a:xfrm>
            <a:off x="4297680" y="2350008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23500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휠 버튼으로 화면 이동</a:t>
            </a:r>
            <a:endParaRPr lang="en-US" sz="1300" dirty="0"/>
          </a:p>
        </p:txBody>
      </p:sp>
      <p:sp>
        <p:nvSpPr>
          <p:cNvPr id="19" name="item 6"/>
          <p:cNvSpPr/>
          <p:nvPr/>
        </p:nvSpPr>
        <p:spPr>
          <a:xfrm>
            <a:off x="8046720" y="2350008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23500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패널 폭 넓히기</a:t>
            </a:r>
            <a:endParaRPr lang="en-US" sz="1300" dirty="0"/>
          </a:p>
        </p:txBody>
      </p:sp>
      <p:sp>
        <p:nvSpPr>
          <p:cNvPr id="22" name="item 7"/>
          <p:cNvSpPr/>
          <p:nvPr/>
        </p:nvSpPr>
        <p:spPr>
          <a:xfrm>
            <a:off x="548640" y="300837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0083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0083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겹침 합치기·두께 누적</a:t>
            </a:r>
            <a:endParaRPr lang="en-US" sz="1300" dirty="0"/>
          </a:p>
        </p:txBody>
      </p:sp>
      <p:sp>
        <p:nvSpPr>
          <p:cNvPr id="25" name="item 8"/>
          <p:cNvSpPr/>
          <p:nvPr/>
        </p:nvSpPr>
        <p:spPr>
          <a:xfrm>
            <a:off x="4297680" y="300837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30083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0083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키캡 모서리 다듬기</a:t>
            </a:r>
            <a:endParaRPr lang="en-US" sz="1300" dirty="0"/>
          </a:p>
        </p:txBody>
      </p:sp>
      <p:sp>
        <p:nvSpPr>
          <p:cNvPr id="28" name="item 9"/>
          <p:cNvSpPr/>
          <p:nvPr/>
        </p:nvSpPr>
        <p:spPr>
          <a:xfrm>
            <a:off x="8046720" y="300837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0083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9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30083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색상별 높이·스템 길이</a:t>
            </a:r>
            <a:endParaRPr lang="en-US" sz="1300" dirty="0"/>
          </a:p>
        </p:txBody>
      </p:sp>
      <p:sp>
        <p:nvSpPr>
          <p:cNvPr id="31" name="item 10"/>
          <p:cNvSpPr/>
          <p:nvPr/>
        </p:nvSpPr>
        <p:spPr>
          <a:xfrm>
            <a:off x="548640" y="3666744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66674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10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36667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글자 넣기(T)</a:t>
            </a:r>
            <a:endParaRPr lang="en-US" sz="1300" dirty="0"/>
          </a:p>
        </p:txBody>
      </p:sp>
      <p:sp>
        <p:nvSpPr>
          <p:cNvPr id="34" name="item 11"/>
          <p:cNvSpPr/>
          <p:nvPr/>
        </p:nvSpPr>
        <p:spPr>
          <a:xfrm>
            <a:off x="4297680" y="3666744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34840" y="366674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11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6667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윤곽 벽</a:t>
            </a:r>
            <a:endParaRPr lang="en-US" sz="1300" dirty="0"/>
          </a:p>
        </p:txBody>
      </p:sp>
      <p:sp>
        <p:nvSpPr>
          <p:cNvPr id="37" name="item 12"/>
          <p:cNvSpPr/>
          <p:nvPr/>
        </p:nvSpPr>
        <p:spPr>
          <a:xfrm>
            <a:off x="8046720" y="3666744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366674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</a:rPr>
              <a:t>커밋 12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006840" y="36667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모드 개편·레이저 미리보기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663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9808" y="466344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B1F"/>
                </a:solidFill>
              </a:rPr>
              <a:t>한 요청 = 한 기능 = 한 커밋. 이렇게 하면 잘못돼도 그 하나만 되돌리면 됩니다.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"다 만들어 줘"라고 하면 어디가 틀렸는지 찾을 수 없습니다. 하나씩 하면 매번 확인하고 넘어갑니다.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실제로 보낸 요청은 이 정도 길이입니다</a:t>
            </a:r>
            <a:endParaRPr lang="en-US" sz="2900" dirty="0"/>
          </a:p>
        </p:txBody>
      </p:sp>
      <p:sp>
        <p:nvSpPr>
          <p:cNvPr id="3" name="p 1"/>
          <p:cNvSpPr/>
          <p:nvPr/>
        </p:nvSpPr>
        <p:spPr>
          <a:xfrm>
            <a:off x="54864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치수의 폰트 크기를 줄이기! 숫자를 선에 가깝게 해야함.. 지금은 이미지랑 너무 근접하고 선과는 너무 멈</a:t>
            </a:r>
            <a:endParaRPr lang="en-US" sz="1450" dirty="0"/>
          </a:p>
        </p:txBody>
      </p:sp>
      <p:sp>
        <p:nvSpPr>
          <p:cNvPr id="5" name="p 2"/>
          <p:cNvSpPr/>
          <p:nvPr/>
        </p:nvSpPr>
        <p:spPr>
          <a:xfrm>
            <a:off x="621792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371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지우는게 어딧지?</a:t>
            </a:r>
            <a:endParaRPr lang="en-US" sz="1450" dirty="0"/>
          </a:p>
        </p:txBody>
      </p:sp>
      <p:sp>
        <p:nvSpPr>
          <p:cNvPr id="7" name="p 3"/>
          <p:cNvSpPr/>
          <p:nvPr/>
        </p:nvSpPr>
        <p:spPr>
          <a:xfrm>
            <a:off x="548640" y="2697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안되겠다 이거 다른 배포 계정으로 옮기자</a:t>
            </a:r>
            <a:endParaRPr lang="en-US" sz="1450" dirty="0"/>
          </a:p>
        </p:txBody>
      </p:sp>
      <p:sp>
        <p:nvSpPr>
          <p:cNvPr id="9" name="p 4"/>
          <p:cNvSpPr/>
          <p:nvPr/>
        </p:nvSpPr>
        <p:spPr>
          <a:xfrm>
            <a:off x="6217920" y="2697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주소를 유지하고 싶어서 그래</a:t>
            </a:r>
            <a:endParaRPr lang="en-US" sz="1450" dirty="0"/>
          </a:p>
        </p:txBody>
      </p:sp>
      <p:sp>
        <p:nvSpPr>
          <p:cNvPr id="11" name="p 5"/>
          <p:cNvSpPr/>
          <p:nvPr/>
        </p:nvSpPr>
        <p:spPr>
          <a:xfrm>
            <a:off x="548640" y="4114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다시 확인</a:t>
            </a:r>
            <a:endParaRPr lang="en-US" sz="1450" dirty="0"/>
          </a:p>
        </p:txBody>
      </p:sp>
      <p:sp>
        <p:nvSpPr>
          <p:cNvPr id="13" name="p 6"/>
          <p:cNvSpPr/>
          <p:nvPr/>
        </p:nvSpPr>
        <p:spPr>
          <a:xfrm>
            <a:off x="6217920" y="4114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</a:rPr>
              <a:t>만듦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562356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맞춤법도 틀리고 반말이고 두 글자짜리도 있습니다. 그래도 됩니다 — 대화가 이어지고 있으니까요.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3단계  고치기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원인을 추측하지 말고, 보이는 대로 말하기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③ 원인 말고 "증상"으로 신고한다</a:t>
            </a:r>
            <a:endParaRPr lang="en-US" sz="2900" dirty="0"/>
          </a:p>
        </p:txBody>
      </p:sp>
      <p:sp>
        <p:nvSpPr>
          <p:cNvPr id="3" name="case 1"/>
          <p:cNvSpPr/>
          <p:nvPr/>
        </p:nvSpPr>
        <p:spPr>
          <a:xfrm>
            <a:off x="548640" y="12801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</a:rPr>
              <a:t>"키캡이 자꾸 오른쪽 위로 밀림"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1801368"/>
            <a:ext cx="219456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28016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그림 너비를 바꾸면 키캡이 제자리에 안 있음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CA678"/>
                </a:solidFill>
              </a:rPr>
              <a:t>위치 계산 기준을 그림이 아닌 고정 좌표로 변경</a:t>
            </a:r>
            <a:endParaRPr lang="en-US" sz="1300" dirty="0"/>
          </a:p>
        </p:txBody>
      </p:sp>
      <p:sp>
        <p:nvSpPr>
          <p:cNvPr id="7" name="case 2"/>
          <p:cNvSpPr/>
          <p:nvPr/>
        </p:nvSpPr>
        <p:spPr>
          <a:xfrm>
            <a:off x="548640" y="28803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</a:rPr>
              <a:t>"텍스트 모드에서 폭의 상태가 실제와는 다름"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32120" y="3401568"/>
            <a:ext cx="219456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88036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화면 숫자와 실제 선 굵기가 안 맞음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CA678"/>
                </a:solidFill>
              </a:rPr>
              <a:t>계산식 추정 → 실제로 그려서 재는 방식으로 교체</a:t>
            </a:r>
            <a:endParaRPr lang="en-US" sz="1300" dirty="0"/>
          </a:p>
        </p:txBody>
      </p:sp>
      <p:sp>
        <p:nvSpPr>
          <p:cNvPr id="11" name="case 3"/>
          <p:cNvSpPr/>
          <p:nvPr/>
        </p:nvSpPr>
        <p:spPr>
          <a:xfrm>
            <a:off x="548640" y="44805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572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</a:rPr>
              <a:t>"가운데 섬은 왜 안됐지"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32120" y="5001768"/>
            <a:ext cx="219456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448056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채우기를 눌렀는데 가운데만 색이 안 바뀜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CA678"/>
                </a:solidFill>
              </a:rPr>
              <a:t>구멍과 도형이 겹칠 때 고르는 우선순위 수정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585216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1C1C"/>
                </a:solidFill>
              </a:rPr>
              <a:t>"왜 안됐지" 한마디로 충분합니다. 원인은 Claude가 찾습니다 — 내가 추측해서 말하면 오히려 엉뚱한 곳을 고칩니다.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좋은 신고 vs 아쉬운 신고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아쉬운 신고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좋은 신고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화면이 이상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2A2A"/>
                          </a:solidFill>
                        </a:rPr>
                        <a:t>"CSS가 깨진 것 같아요"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A678"/>
                          </a:solidFill>
                        </a:rPr>
                        <a:t>"오른쪽 글자가 화면 밖으로 나가요"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결과가 틀림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2A2A"/>
                          </a:solidFill>
                        </a:rPr>
                        <a:t>"계산 로직 고쳐 줘"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A678"/>
                          </a:solidFill>
                        </a:rPr>
                        <a:t>"10mm로 넣었는데 12mm로 나와요"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반응이 없음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2A2A"/>
                          </a:solidFill>
                        </a:rPr>
                        <a:t>"이벤트가 안 걸렸나 봐요"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A678"/>
                          </a:solidFill>
                        </a:rPr>
                        <a:t>"버튼을 눌러도 아무 일이 없어요"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오류 창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2A2A"/>
                          </a:solidFill>
                        </a:rPr>
                        <a:t>"오류 났어요"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A678"/>
                          </a:solidFill>
                        </a:rPr>
                        <a:t>오류 문구를 그대로 복사해서 붙여넣기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484632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핵심: 내가 본 것만 말한다. 화면 캡처를 붙여 넣으면 더 빠릅니다.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오류 문구는 번역하거나 요약하지 말고 그대로 복사하세요 — 한 줄이 원인을 바로 가리킵니다.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④ "눈으로 보여 달라"고 한다</a:t>
            </a:r>
            <a:endParaRPr lang="en-US" sz="2900" dirty="0"/>
          </a:p>
        </p:txBody>
      </p:sp>
      <p:sp>
        <p:nvSpPr>
          <p:cNvPr id="3" name="가는 선 빨간 표시 frame"/>
          <p:cNvSpPr/>
          <p:nvPr/>
        </p:nvSpPr>
        <p:spPr>
          <a:xfrm>
            <a:off x="512064" y="1387750"/>
            <a:ext cx="5010912" cy="435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가는 선 빨간 표시" descr="가는 선 빨간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4326"/>
            <a:ext cx="4937760" cy="4283667"/>
          </a:xfrm>
          <a:prstGeom prst="rect">
            <a:avLst/>
          </a:prstGeom>
        </p:spPr>
      </p:pic>
      <p:sp>
        <p:nvSpPr>
          <p:cNvPr id="5" name="prompt box"/>
          <p:cNvSpPr/>
          <p:nvPr/>
        </p:nvSpPr>
        <p:spPr>
          <a:xfrm>
            <a:off x="5760720" y="128016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353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4"/>
                </a:solidFill>
              </a:rPr>
              <a:t>실제로 쓴 말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6276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"전체적으로 프로그램 검증하고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이제 이상 없으면 version 지정하고 정리 푸쉬하자"</a:t>
            </a:r>
            <a:endParaRPr lang="en-US" sz="1500" dirty="0"/>
          </a:p>
        </p:txBody>
      </p:sp>
      <p:sp>
        <p:nvSpPr>
          <p:cNvPr id="8" name="num 1"/>
          <p:cNvSpPr/>
          <p:nvPr/>
        </p:nvSpPr>
        <p:spPr>
          <a:xfrm>
            <a:off x="5760720" y="27157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69748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화면을 캡처해서 보여 달라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말로 "됐습니다" 말고 결과 이미지로</a:t>
            </a:r>
            <a:endParaRPr lang="en-US" sz="1500" dirty="0"/>
          </a:p>
        </p:txBody>
      </p:sp>
      <p:sp>
        <p:nvSpPr>
          <p:cNvPr id="11" name="num 2"/>
          <p:cNvSpPr/>
          <p:nvPr/>
        </p:nvSpPr>
        <p:spPr>
          <a:xfrm>
            <a:off x="5760720" y="3465576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44728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숫자로 확인해 달라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"10mm로 넣으면 실제 몇 mm인지 재 봐"</a:t>
            </a:r>
            <a:endParaRPr lang="en-US" sz="1500" dirty="0"/>
          </a:p>
        </p:txBody>
      </p:sp>
      <p:sp>
        <p:nvSpPr>
          <p:cNvPr id="14" name="num 3"/>
          <p:cNvSpPr/>
          <p:nvPr/>
        </p:nvSpPr>
        <p:spPr>
          <a:xfrm>
            <a:off x="5760720" y="4215384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419709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검사를 만들어 달라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다음에 고칠 때 망가지면 바로 알게</a:t>
            </a:r>
            <a:endParaRPr lang="en-US" sz="1500" dirty="0"/>
          </a:p>
        </p:txBody>
      </p:sp>
      <p:sp>
        <p:nvSpPr>
          <p:cNvPr id="17" name="num 4"/>
          <p:cNvSpPr/>
          <p:nvPr/>
        </p:nvSpPr>
        <p:spPr>
          <a:xfrm>
            <a:off x="5760720" y="4965192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4946904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전체 점검을 시켜라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기능을 많이 추가한 뒤에는 꼭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60720" y="576072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61888" y="576072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이 프로젝트에는 자동 검사 67개가 쌓였습니다 — 전부 "확인해 달라"고 말해서 생긴 것입니다.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⑤ 틀린 방향은 미련 없이 버린다</a:t>
            </a:r>
            <a:endParaRPr lang="en-US" sz="2900" dirty="0"/>
          </a:p>
        </p:txBody>
      </p:sp>
      <p:sp>
        <p:nvSpPr>
          <p:cNvPr id="3" name="fail 1"/>
          <p:cNvSpPr/>
          <p:nvPr/>
        </p:nvSpPr>
        <p:spPr>
          <a:xfrm>
            <a:off x="548640" y="128016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2296" cy="205740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3D 단계 자동 보정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385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D6678"/>
                </a:solidFill>
              </a:rPr>
              <a:t>무엇이 문제였나 — 가는 선을 출력 직전에 자동으로 굵게 만들어 봤더니, 그림이 통째로 뭉개져서 원래 모양을 잃었다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2A2A"/>
                </a:solidFill>
              </a:rPr>
              <a:t>어떻게 했나 — 전부 삭제 → 2D 화면에서 사람이 보고 고르는 방식으로 교체</a:t>
            </a:r>
            <a:endParaRPr lang="en-US" sz="1450" dirty="0"/>
          </a:p>
        </p:txBody>
      </p:sp>
      <p:sp>
        <p:nvSpPr>
          <p:cNvPr id="8" name="fail 2"/>
          <p:cNvSpPr/>
          <p:nvPr/>
        </p:nvSpPr>
        <p:spPr>
          <a:xfrm>
            <a:off x="548640" y="356616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82296" cy="205740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16/32/64/128색 색판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245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D6678"/>
                </a:solidFill>
              </a:rPr>
              <a:t>무엇이 문제였나 — 색을 많이 고를 수 있게 했더니 학생들이 오히려 헤맸다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8590C"/>
                </a:solidFill>
              </a:rPr>
              <a:t>어떻게 했나 — 5×5 고정 타일 + "그림에 쓰인 색" 줄로 교체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85216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이미 만든 게 아까워서 붙들고 있으면 도구가 나빠집니다. 만드는 비용이 싸니까, 버리는 비용도 쌉니다.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복사해서 바로 쓰는 프롬프트 틀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네 가지만 있으면 처음부터 끝까지 갑니다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틀 ① 시작할 때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3444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44168"/>
            <a:ext cx="64922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[무엇을] 만들고 싶다.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쓰는 사람: (초등 5학년 학생 25명 / 나 혼자)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쓰는 상황: (교실 PC, 인터넷 불안정)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넣는 곳: (MakerLab / 한글 / 엑셀)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꼭 지킬 것: (설치 없이 HTML 파일 하나로)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먼저 가장 단순한 형태로 만들어 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23444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234440"/>
            <a:ext cx="73152" cy="30175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</a:rPr>
              <a:t>이 틀의 핵심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쓰임새·사용자·제약을 한 번에. 기능 목록은 쓰지 않습니다 — 그건 쓰면서 나옵니다.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[ ] 안을 내 상황으로 바꿔서 그대로 붙여넣으세요.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F3C"/>
                </a:solidFill>
              </a:rPr>
              <a:t>이렇게 채워서 보냅니다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230"/>
                </a:solidFill>
              </a:rPr>
              <a:t>모둠을 자동으로 짜 주는 도구를 만들고 싶다. 쓰는 사람은 담임교사 혼자, 교실 PC에서 쓴다. 학생 이름은 엑셀에서 붙여넣는다. 설치 없이 HTML 파일 하나로 되게 해 줘. 먼저 가장 단순한 형태로.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틀 ② 기능 하나 추가할 때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3444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44168"/>
            <a:ext cx="64922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지금 것에서 [한 가지]를 추가해 줘.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왜 필요한지: (학생들이 매번 손으로 지워야 해서)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어디에 있으면 좋을지: (왼쪽 설정 칸 아래)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기존 것은 건드리지 말 것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다 되면 화면 캡처로 보여 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23444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234440"/>
            <a:ext cx="73152" cy="3017520"/>
          </a:xfrm>
          <a:prstGeom prst="rect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FD6"/>
                </a:solidFill>
              </a:rPr>
              <a:t>이 틀의 핵심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한 번에 하나. "왜"를 붙이면 더 나은 방법을 제안받을 때가 많습니다.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[ ] 안을 내 상황으로 바꿔서 그대로 붙여넣으세요.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FD6"/>
                </a:solidFill>
              </a:rPr>
              <a:t>이렇게 채워서 보냅니다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230"/>
                </a:solidFill>
              </a:rPr>
              <a:t>남녀가 한쪽으로 몰리지 않게 섞는 기능을 넣어 줘. 모둠별로 성비가 비슷해야 활동이 잘 돌아가서 그렇다. 지금 있는 "다시 뽑기" 버튼 옆에 두면 좋겠다. 다 되면 화면 캡처로 보여 줘.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틀 ③ 잘못됐을 때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3444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44168"/>
            <a:ext cx="64922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[내가 한 행동] 했더니 [보이는 결과]가 나온다.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기대한 건 [원하는 결과]다.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(오류 문구가 있으면 그대로 붙여넣기)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(화면 캡처가 있으면 함께)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원인을 찾아서 고쳐 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23444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234440"/>
            <a:ext cx="73152" cy="301752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2A2A"/>
                </a:solidFill>
              </a:rPr>
              <a:t>이 틀의 핵심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원인 추측은 쓰지 않습니다. 행동 → 결과 → 기대, 이 세 줄이면 충분합니다.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[ ] 안을 내 상황으로 바꿔서 그대로 붙여넣으세요.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A2A"/>
                </a:solidFill>
              </a:rPr>
              <a:t>이렇게 채워서 보냅니다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230"/>
                </a:solidFill>
              </a:rPr>
              <a:t>학생 27명을 붙여넣고 4모둠으로 뽑았더니 한 모둠만 9명이 됐다. 고르게 나뉘길 기대했다. 오류 창은 안 뜬다. 원인을 찾아서 고쳐 줘.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틀 ④ 마무리할 때</a:t>
            </a:r>
            <a:endParaRPr lang="en-US" sz="2900" dirty="0"/>
          </a:p>
        </p:txBody>
      </p:sp>
      <p:sp>
        <p:nvSpPr>
          <p:cNvPr id="3" name="prompt box"/>
          <p:cNvSpPr/>
          <p:nvPr/>
        </p:nvSpPr>
        <p:spPr>
          <a:xfrm>
            <a:off x="548640" y="123444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2B3242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44168"/>
            <a:ext cx="64922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전체적으로 점검해 줘.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기능이 서로 망가뜨리는 데가 없는지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처음 쓰는 사람이 헤맬 만한 곳이 없는지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· 버전을 붙이고 설명 문서를 정리해 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</a:rPr>
              <a:t>이상 없으면 최종 파일을 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23444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234440"/>
            <a:ext cx="73152" cy="301752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A678"/>
                </a:solidFill>
              </a:rPr>
              <a:t>이 틀의 핵심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한 단원이 끝날 때마다 이걸 돌리면 다음에 이어서 하기가 훨씬 쉽습니다.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[ ] 안을 내 상황으로 바꿔서 그대로 붙여넣으세요.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A678"/>
                </a:solidFill>
              </a:rPr>
              <a:t>이렇게 채워서 보냅니다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230"/>
                </a:solidFill>
              </a:rPr>
              <a:t>전체적으로 프로그램 검증하고 이제 이상 없으면 version 지정하고 정리 푸쉬하자  ← 이 프로젝트에서 실제로 쓴 말. 이 한 줄로 전체 점검 · 버전 2.0.0 지정 · 문서 정리가 한 번에 됐습니다.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흔한 실수 다섯 가지</a:t>
            </a:r>
            <a:endParaRPr lang="en-US" sz="2900" dirty="0"/>
          </a:p>
        </p:txBody>
      </p:sp>
      <p:sp>
        <p:nvSpPr>
          <p:cNvPr id="3" name="m 1"/>
          <p:cNvSpPr/>
          <p:nvPr/>
        </p:nvSpPr>
        <p:spPr>
          <a:xfrm>
            <a:off x="548640" y="128016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777240" y="1490472"/>
            <a:ext cx="384048" cy="384048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한 번에 다 요청한다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28016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"이런 거 저런 거 다 되는 프로그램" → 어디가 틀렸는지 못 찾음</a:t>
            </a:r>
            <a:endParaRPr lang="en-US" sz="1400" dirty="0"/>
          </a:p>
        </p:txBody>
      </p:sp>
      <p:sp>
        <p:nvSpPr>
          <p:cNvPr id="8" name="m 2"/>
          <p:cNvSpPr/>
          <p:nvPr/>
        </p:nvSpPr>
        <p:spPr>
          <a:xfrm>
            <a:off x="548640" y="2221992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777240" y="2432304"/>
            <a:ext cx="384048" cy="384048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22199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원인을 추측해서 말한다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22199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"메모리 문제 같은데" → 엉뚱한 곳을 고치게 됨</a:t>
            </a:r>
            <a:endParaRPr lang="en-US" sz="1400" dirty="0"/>
          </a:p>
        </p:txBody>
      </p:sp>
      <p:sp>
        <p:nvSpPr>
          <p:cNvPr id="13" name="m 3"/>
          <p:cNvSpPr/>
          <p:nvPr/>
        </p:nvSpPr>
        <p:spPr>
          <a:xfrm>
            <a:off x="548640" y="316382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num 3"/>
          <p:cNvSpPr/>
          <p:nvPr/>
        </p:nvSpPr>
        <p:spPr>
          <a:xfrm>
            <a:off x="777240" y="3374136"/>
            <a:ext cx="384048" cy="384048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6382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결과를 확인하지 않는다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163824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"됐습니다"를 믿고 넘어감 → 나중에 한꺼번에 터짐</a:t>
            </a:r>
            <a:endParaRPr lang="en-US" sz="1400" dirty="0"/>
          </a:p>
        </p:txBody>
      </p:sp>
      <p:sp>
        <p:nvSpPr>
          <p:cNvPr id="18" name="m 4"/>
          <p:cNvSpPr/>
          <p:nvPr/>
        </p:nvSpPr>
        <p:spPr>
          <a:xfrm>
            <a:off x="548640" y="410565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9" name="num 4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1056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아까워서 못 버린다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105656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이상한 기능을 붙들고 그 위에 또 쌓음</a:t>
            </a:r>
            <a:endParaRPr lang="en-US" sz="1400" dirty="0"/>
          </a:p>
        </p:txBody>
      </p:sp>
      <p:sp>
        <p:nvSpPr>
          <p:cNvPr id="23" name="m 5"/>
          <p:cNvSpPr/>
          <p:nvPr/>
        </p:nvSpPr>
        <p:spPr>
          <a:xfrm>
            <a:off x="548640" y="504748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num 5"/>
          <p:cNvSpPr/>
          <p:nvPr/>
        </p:nvSpPr>
        <p:spPr>
          <a:xfrm>
            <a:off x="777240" y="5257800"/>
            <a:ext cx="384048" cy="384048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04748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저장을 안 한다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504748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잘 되던 시점으로 못 돌아감 → 매번 커밋·저장하기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612648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6126480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1C1C"/>
                </a:solidFill>
              </a:rPr>
              <a:t>다섯 개 모두 제가 실제로 한 실수입니다. 특히 다섯 번째는 뼈아픕니다.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이제 선생님 차례입니다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무엇부터, 어떤 환경에서, 어떤 일정으로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무엇부터 만들까 — 작게 시작하기</a:t>
            </a:r>
            <a:endParaRPr lang="en-US" sz="2900" dirty="0"/>
          </a:p>
        </p:txBody>
      </p:sp>
      <p:sp>
        <p:nvSpPr>
          <p:cNvPr id="3" name="idea 1"/>
          <p:cNvSpPr/>
          <p:nvPr/>
        </p:nvSpPr>
        <p:spPr>
          <a:xfrm>
            <a:off x="548640" y="12801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1~2시간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수업 보조 도구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D6678"/>
                </a:solidFill>
              </a:rPr>
              <a:t>랜덤 모둠 짜기, 타이머, 발표 순서 뽑기</a:t>
            </a:r>
            <a:endParaRPr lang="en-US" sz="1450" dirty="0"/>
          </a:p>
        </p:txBody>
      </p:sp>
      <p:sp>
        <p:nvSpPr>
          <p:cNvPr id="8" name="idea 2"/>
          <p:cNvSpPr/>
          <p:nvPr/>
        </p:nvSpPr>
        <p:spPr>
          <a:xfrm>
            <a:off x="4297680" y="12801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54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반나절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자료 변환기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D6678"/>
                </a:solidFill>
              </a:rPr>
              <a:t>성적 표 정리, 이름표·상장 일괄 만들기</a:t>
            </a:r>
            <a:endParaRPr lang="en-US" sz="1450" dirty="0"/>
          </a:p>
        </p:txBody>
      </p:sp>
      <p:sp>
        <p:nvSpPr>
          <p:cNvPr id="13" name="idea 3"/>
          <p:cNvSpPr/>
          <p:nvPr/>
        </p:nvSpPr>
        <p:spPr>
          <a:xfrm>
            <a:off x="8046720" y="12801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2~5일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학생용 실습 도구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D6678"/>
                </a:solidFill>
              </a:rPr>
              <a:t>SVG Forge 같은 제작 도구, 측정 계산기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84632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첫 작품은 반드시 왼쪽 칸에서 고르세요. 한 번 끝까지 가 보는 경험이 두 번째를 쉽게 만듭니다.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고르는 기준: 지금 손으로 하고 있어서 귀찮은 일 → 그게 가장 좋은 첫 과제입니다.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무엇을 쓰면 되나</a:t>
            </a:r>
            <a:endParaRPr lang="en-US" sz="2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  <a:gridCol w="356616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이럴 때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결과물 받는 법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15F3C"/>
                          </a:solidFill>
                        </a:rPr>
                        <a:t>Claude 앱·웹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처음 시작 · 파일 한두 개짜리 도구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파일로 내려받아 더블클릭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15F3C"/>
                          </a:solidFill>
                        </a:rPr>
                        <a:t>Claude Code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파일이 여러 개로 커질 때 · 저장소 연동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내 PC 폴더에 직접 저장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95057"/>
                          </a:solidFill>
                        </a:rPr>
                        <a:t>GitHub (선택)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되돌리기 · 다른 PC에서 이어 하기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무료 계정이면 충분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95057"/>
                          </a:solidFill>
                        </a:rPr>
                        <a:t>Netlify (선택)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인터넷 주소로 공유하고 싶을 때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파일 끌어다 놓으면 주소 발급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00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480060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처음에는 Claude 앱 하나로 충분합니다. GitHub·Netlify는 필요해질 때 배우면 됩니다 — 저도 그렇게 했습니다.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F3C"/>
                </a:solidFill>
              </a:rPr>
              <a:t>※ 이 PPT와 핸드북도 같은 방식으로 Claude가 만들었습니다.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017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</a:rPr>
              <a:t>따라 하기 — 2주 일정표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508760" cy="786384"/>
          </a:xfrm>
          <a:prstGeom prst="roundRect">
            <a:avLst>
              <a:gd name="adj" fmla="val 11628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1일차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2801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230"/>
                </a:solidFill>
              </a:rPr>
              <a:t>가장 단순한 형태로 완성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28016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틀 ①로 시작 · 돌아가기만 하면 성공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508760" cy="786384"/>
          </a:xfrm>
          <a:prstGeom prst="roundRect">
            <a:avLst>
              <a:gd name="adj" fmla="val 11628"/>
            </a:avLst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1284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2~3일차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21284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230"/>
                </a:solidFill>
              </a:rPr>
              <a:t>직접 써 보기 (만들지 않음)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1284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불편한 점을 메모만 해 둔다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508760" cy="786384"/>
          </a:xfrm>
          <a:prstGeom prst="roundRect">
            <a:avLst>
              <a:gd name="adj" fmla="val 11628"/>
            </a:avLst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4~5일차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145536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230"/>
                </a:solidFill>
              </a:rPr>
              <a:t>메모를 하나씩 요청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45536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틀 ② — 하루 2~3개면 충분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1508760" cy="786384"/>
          </a:xfrm>
          <a:prstGeom prst="roundRect">
            <a:avLst>
              <a:gd name="adj" fmla="val 11628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78224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6~7일차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07822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230"/>
                </a:solidFill>
              </a:rPr>
              <a:t>학생 1~2명에게 시켜 보기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07822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내가 못 보던 문제가 나옴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1508760" cy="786384"/>
          </a:xfrm>
          <a:prstGeom prst="roundRect">
            <a:avLst>
              <a:gd name="adj" fmla="val 11628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10912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2주차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501091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230"/>
                </a:solidFill>
              </a:rPr>
              <a:t>고치고 · 버리고 · 점검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01091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틀 ③·④ · 버전 붙이고 마무리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6035040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B1F"/>
                </a:solidFill>
              </a:rPr>
              <a:t>2~3일차의 "만들지 않는 기간"이 핵심입니다. 써 보지 않으면 무엇이 필요한지 모릅니다.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만드는 비용이 싸졌습니다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이제 중요한 건 "무엇이 필요한지 아는 것" — 그건 교실에 있는 사람이 가장 잘 압니다</a:t>
            </a:r>
            <a:endParaRPr lang="en-US" sz="1800" dirty="0"/>
          </a:p>
        </p:txBody>
      </p:sp>
      <p:pic>
        <p:nvPicPr>
          <p:cNvPr id="4" name="end1" descr="완성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206240"/>
            <a:ext cx="1828800" cy="1737800"/>
          </a:xfrm>
          <a:prstGeom prst="rect">
            <a:avLst/>
          </a:prstGeom>
        </p:spPr>
      </p:pic>
      <p:pic>
        <p:nvPicPr>
          <p:cNvPr id="5" name="end2" descr="완성 키캡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206240"/>
            <a:ext cx="1828800" cy="17385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</a:rPr>
              <a:t>핸드북(HTML)에 프롬프트 틀과 체크리스트가 들어 있습니다 · uniquelife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Build">
  <a:themeElements>
    <a:clrScheme name="Claude Build">
      <a:dk1>
        <a:srgbClr val="1C2230"/>
      </a:dk1>
      <a:lt1>
        <a:srgbClr val="FFFFFF"/>
      </a:lt1>
      <a:dk2>
        <a:srgbClr val="1D3557"/>
      </a:dk2>
      <a:lt2>
        <a:srgbClr val="F3F4F7"/>
      </a:lt2>
      <a:accent1>
        <a:srgbClr val="C15F3C"/>
      </a:accent1>
      <a:accent2>
        <a:srgbClr val="1D5FD6"/>
      </a:accent2>
      <a:accent3>
        <a:srgbClr val="0CA678"/>
      </a:accent3>
      <a:accent4>
        <a:srgbClr val="7048E8"/>
      </a:accent4>
      <a:accent5>
        <a:srgbClr val="E8590C"/>
      </a:accent5>
      <a:accent6>
        <a:srgbClr val="495057"/>
      </a:accent6>
      <a:hlink>
        <a:srgbClr val="1D5FD6"/>
      </a:hlink>
      <a:folHlink>
        <a:srgbClr val="7048E8"/>
      </a:folHlink>
    </a:clrScheme>
    <a:fontScheme name="Claude Buil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Claude와 수업 도구 만들기 — SVG Forge 2주 기록</dc:title>
  <dc:subject>PptxGenJS Presentation</dc:subject>
  <dc:creator>uniquelife</dc:creator>
  <cp:lastModifiedBy>uniquelife</cp:lastModifiedBy>
  <cp:revision>1</cp:revision>
  <dcterms:created xsi:type="dcterms:W3CDTF">2026-10-13T23:55:40Z</dcterms:created>
  <dcterms:modified xsi:type="dcterms:W3CDTF">2026-10-13T23:55:40Z</dcterms:modified>
</cp:coreProperties>
</file>